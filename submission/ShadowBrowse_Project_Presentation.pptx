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external examiners, Head of Department, and project guide. Today, I am presenting our semester capstone project: ShadowBrowse — an anonymous and secure web browsing extension. This project tackles the pervasive surveillance landscape of modern web browsing by bridging the gap between decentralized Tor onion routing and the Chromium desktop ecosystem under Manifest V3.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why ShadowBrowse is needed, we must look at the reality of modern web tracking. Users face two simultaneous threats: network-level tracking through public IP visibility, and application-level tracking through canvas and audio fingerprinting. Commercial VPNs simply shift trust to a centralized provider, while Tor Browser forces users to abandon Chromium. ShadowBrowse brings verifiable, multi-layered anonymity directly into the Chromium browser.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objectives were strictly focused on delivering a production-grade, verifiable system. We decoupled the privileged networking tasks to a local loopback agent, while keeping the UI in a Manifest V3 extension. Crucially, we defined our scope honestly: ShadowBrowse provides browser-level privacy and Tor routing, not an OS-wide VPN.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comparing ShadowBrowse to existing tools, we see that users previously had to choose between extreme inconvenience or illusory privacy. Incognito mode provides zero network privacy. VPNs require blind trust in a commercial provider. ShadowBrowse uniquely unifies multi-hop Tor routing, active DOM fingerprinting noise, and an automated fail-closed kill switch directly inside the Chromium browser.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the foundational architecture of ShadowBrowse. The browser extension operates within the restricted Manifest V3 sandbox. Rather than trying to force raw socket management into the extension, we decouple network verification to a lightweight local FastAPI agent running strictly on loopback. The extension controls the browser's proxy rules, while the agent independently verifies circuit health.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technology stack choices were governed by performance, security, and type safety. On the frontend, React 18 and TypeScript ensure strict typing for all message exchanges. On the backend, Python 3.11 with FastAPI delivers an asynchronous, lightweight daemon. And for routing, we rely on the verified Tor 0.4.8.14 Expert Bundle, completely avoiding unverified third-party binaries.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ShadowBrowse's codebase is structured around single-responsibility controllers. In the extension, NetworkController handles raw proxy rules while PrivacyController manages the session state machine. MessageSecurity acts as our in-extension firewall, guaranteeing that untrusted web scripts cannot trigger privileged extension actions. In the agent, route_verifier and detector ensure that network promises are backed by real cryptographic evidence.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user clicks 'Start Protected Session', ShadowBrowse does not simply flip a proxy setting and hope for the best. It initiates a deterministic 10-step startup sequence. This checks authentication, audits the Tor bootstrap, snapshots the existing proxy, sets the SOCKS5 proxy, disables non-proxied WebRTC UDP, and verifies the exit node with Tor Project authorities. Only when all 10 steps succeed does the session become PROTECTED.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critical innovations guarantee system integrity: out-of-band route verification and our fail-closed kill switch. Route verification prevents the classic error where an extension assumes a proxy is working when it is actually bypassed. And if the Tor daemon terminates mid-session, the kill switch instantly blackholes the browser's traffic to port 9, preventing the browser from silently falling back to direct, unencrypted internet access.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 privacy alone is insufficient if the browser leaks hardware fingerprints. ShadowBrowse injects injectGuard.js into page frames at document_start. Rather than blocking canvas operations—which breaks modern web applications—it adds deterministic, imperceptible micro-noise. This ruins the mathematical hash that trackers rely on, while keeping the web page completely usable.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authentic high-resolution screenshots of ShadowBrowse running in Google Chrome. On the left is the toolbar Popup, featuring our single-click protected session toggle, network indicators, and companion action grid. In the center is our SidePanel view, which displays a comprehensive system health matrix and live telemetry. The UI is built with React 18, utilizing high-contrast visual tokens and full keyboard accessibility.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adopted an exhaustive quality assurance regimen. Our automated test suite includes 213 test items across 15 test modules, achieving a 100% pass rate. Furthermore, we wrote automated Chrome DevTools Protocol scripts to load the compiled distribution in clean disposable Chrome profiles. This verified that the extension extracts, loads, mounts, and detects offline states with zero console errors.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our live network verification results. We did not merely test in simulation. We verified that our direct public IP was 210.16.95.248, and when ShadowBrowse was activated, the observed egress IP became 193.189.100.203. The official Tor Project API confirmed IsTor equals true with HIGH cryptographic evidence.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keeping with academic rigor, we openly state our technical limitations. Chrome extensions operate inside the browser sandbox, so raw kernel UDP sockets are outside our scope. Additionally, full circuit routing requires our companion daemon to be active on loopback. Looking forward, we plan to package the daemon and browser into a single desktop installer using Tauri and add support for Firefox.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ShadowBrowse proves that robust privacy protections can be delivered inside modern Chromium browsers without sacrificing web usability. Through out-of-band circuit verification, active canvas defenses, and fail-closed kill-switch protections, we provide a verifiable, production-ready solution to modern web surveillance. Thank you very much. I am now open to your questions and viva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2011680"/>
          </a:xfrm>
          <a:prstGeom prst="rect">
            <a:avLst/>
          </a:prstGeom>
          <a:noFill/>
        </p:spPr>
        <p:txBody>
          <a:bodyPr wrap="square">
            <a:spAutoFit/>
          </a:bodyPr>
          <a:lstStyle/>
          <a:p>
            <a:pPr>
              <a:defRPr sz="4000" b="1">
                <a:solidFill>
                  <a:srgbClr val="FFFFFF"/>
                </a:solidFill>
                <a:latin typeface="Arial"/>
              </a:defRPr>
            </a:pPr>
            <a:r>
              <a:t>SHADOWBROWSE</a:t>
            </a:r>
          </a:p>
          <a:p>
            <a:pPr>
              <a:defRPr sz="2200" b="1">
                <a:solidFill>
                  <a:srgbClr val="0EA5E9"/>
                </a:solidFill>
                <a:latin typeface="Arial"/>
              </a:defRPr>
            </a:pPr>
            <a:r>
              <a:t>Anonymous and Secure Web Browsing Extension</a:t>
            </a:r>
          </a:p>
          <a:p>
            <a:pPr>
              <a:defRPr sz="1300">
                <a:solidFill>
                  <a:srgbClr val="94A3B8"/>
                </a:solidFill>
                <a:latin typeface="Arial"/>
              </a:defRPr>
            </a:pPr>
            <a:r>
              <a:t>A Coordinated Two-Tier Chromium Privacy Architecture with Manifest V3, Out-of-Band SOCKS5 Circuit Verification, and Fail-Closed Defenses</a:t>
            </a:r>
          </a:p>
        </p:txBody>
      </p:sp>
      <p:sp>
        <p:nvSpPr>
          <p:cNvPr id="4" name="Rectangle 3"/>
          <p:cNvSpPr/>
          <p:nvPr/>
        </p:nvSpPr>
        <p:spPr>
          <a:xfrm>
            <a:off x="914400" y="3566160"/>
            <a:ext cx="1036289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931920"/>
            <a:ext cx="4937760" cy="2286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4114800"/>
            <a:ext cx="4480560" cy="457200"/>
          </a:xfrm>
          <a:prstGeom prst="rect">
            <a:avLst/>
          </a:prstGeom>
          <a:noFill/>
        </p:spPr>
        <p:txBody>
          <a:bodyPr wrap="none">
            <a:spAutoFit/>
          </a:bodyPr>
          <a:lstStyle/>
          <a:p>
            <a:pPr>
              <a:defRPr sz="1400" b="1">
                <a:solidFill>
                  <a:srgbClr val="0EA5E9"/>
                </a:solidFill>
                <a:latin typeface="Arial"/>
              </a:defRPr>
            </a:pPr>
            <a:r>
              <a:t>PRESENTED BY:</a:t>
            </a:r>
          </a:p>
        </p:txBody>
      </p:sp>
      <p:sp>
        <p:nvSpPr>
          <p:cNvPr id="7" name="TextBox 6"/>
          <p:cNvSpPr txBox="1"/>
          <p:nvPr/>
        </p:nvSpPr>
        <p:spPr>
          <a:xfrm>
            <a:off x="1188720" y="4572000"/>
            <a:ext cx="4572000" cy="1463040"/>
          </a:xfrm>
          <a:prstGeom prst="rect">
            <a:avLst/>
          </a:prstGeom>
          <a:noFill/>
        </p:spPr>
        <p:txBody>
          <a:bodyPr wrap="square">
            <a:spAutoFit/>
          </a:bodyPr>
          <a:lstStyle/>
          <a:p>
            <a:pPr>
              <a:lnSpc>
                <a:spcPct val="115000"/>
              </a:lnSpc>
              <a:spcAft>
                <a:spcPts val="800"/>
              </a:spcAft>
            </a:pPr>
            <a:r>
              <a:rPr sz="1200" b="1">
                <a:solidFill>
                  <a:srgbClr val="FFFFFF"/>
                </a:solidFill>
                <a:latin typeface="Arial"/>
              </a:rPr>
              <a:t>[Student Name: _______________________] </a:t>
            </a:r>
            <a:r>
              <a:rPr sz="1200">
                <a:solidFill>
                  <a:srgbClr val="94A3B8"/>
                </a:solidFill>
                <a:latin typeface="Arial"/>
              </a:rPr>
              <a:t>Roll No / PRN: [___________]</a:t>
            </a:r>
          </a:p>
          <a:p>
            <a:pPr>
              <a:lnSpc>
                <a:spcPct val="115000"/>
              </a:lnSpc>
              <a:spcAft>
                <a:spcPts val="800"/>
              </a:spcAft>
            </a:pPr>
            <a:r>
              <a:rPr sz="1200" b="1">
                <a:solidFill>
                  <a:srgbClr val="FFFFFF"/>
                </a:solidFill>
                <a:latin typeface="Arial"/>
              </a:rPr>
              <a:t>[Optional Team Member 2: ______________] </a:t>
            </a:r>
            <a:r>
              <a:rPr sz="1200">
                <a:solidFill>
                  <a:srgbClr val="94A3B8"/>
                </a:solidFill>
                <a:latin typeface="Arial"/>
              </a:rPr>
              <a:t>Roll No / PRN: [___________]</a:t>
            </a:r>
          </a:p>
          <a:p>
            <a:pPr>
              <a:lnSpc>
                <a:spcPct val="115000"/>
              </a:lnSpc>
              <a:spcAft>
                <a:spcPts val="800"/>
              </a:spcAft>
            </a:pPr>
            <a:r>
              <a:rPr sz="1200" b="1">
                <a:solidFill>
                  <a:srgbClr val="FFFFFF"/>
                </a:solidFill>
                <a:latin typeface="Arial"/>
              </a:rPr>
              <a:t>Department: </a:t>
            </a:r>
            <a:r>
              <a:rPr sz="1200">
                <a:solidFill>
                  <a:srgbClr val="94A3B8"/>
                </a:solidFill>
                <a:latin typeface="Arial"/>
              </a:rPr>
              <a:t>Computer Science &amp; Engineering</a:t>
            </a:r>
          </a:p>
          <a:p>
            <a:pPr>
              <a:lnSpc>
                <a:spcPct val="115000"/>
              </a:lnSpc>
              <a:spcAft>
                <a:spcPts val="800"/>
              </a:spcAft>
            </a:pPr>
            <a:r>
              <a:rPr sz="1200" b="1">
                <a:solidFill>
                  <a:srgbClr val="FFFFFF"/>
                </a:solidFill>
                <a:latin typeface="Arial"/>
              </a:rPr>
              <a:t>College / Institution: </a:t>
            </a:r>
            <a:r>
              <a:rPr sz="1200">
                <a:solidFill>
                  <a:srgbClr val="94A3B8"/>
                </a:solidFill>
                <a:latin typeface="Arial"/>
              </a:rPr>
              <a:t>[College / University Name Here]</a:t>
            </a:r>
          </a:p>
        </p:txBody>
      </p:sp>
      <p:sp>
        <p:nvSpPr>
          <p:cNvPr id="8" name="Rounded Rectangle 7"/>
          <p:cNvSpPr/>
          <p:nvPr/>
        </p:nvSpPr>
        <p:spPr>
          <a:xfrm>
            <a:off x="6309360" y="3931920"/>
            <a:ext cx="4937760" cy="2286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4114800"/>
            <a:ext cx="4480560" cy="457200"/>
          </a:xfrm>
          <a:prstGeom prst="rect">
            <a:avLst/>
          </a:prstGeom>
          <a:noFill/>
        </p:spPr>
        <p:txBody>
          <a:bodyPr wrap="none">
            <a:spAutoFit/>
          </a:bodyPr>
          <a:lstStyle/>
          <a:p>
            <a:pPr>
              <a:defRPr sz="1400" b="1">
                <a:solidFill>
                  <a:srgbClr val="0EA5E9"/>
                </a:solidFill>
                <a:latin typeface="Arial"/>
              </a:defRPr>
            </a:pPr>
            <a:r>
              <a:t>PROJECT SUPERVISION:</a:t>
            </a:r>
          </a:p>
        </p:txBody>
      </p:sp>
      <p:sp>
        <p:nvSpPr>
          <p:cNvPr id="10" name="TextBox 9"/>
          <p:cNvSpPr txBox="1"/>
          <p:nvPr/>
        </p:nvSpPr>
        <p:spPr>
          <a:xfrm>
            <a:off x="6583680" y="4572000"/>
            <a:ext cx="4572000" cy="1463040"/>
          </a:xfrm>
          <a:prstGeom prst="rect">
            <a:avLst/>
          </a:prstGeom>
          <a:noFill/>
        </p:spPr>
        <p:txBody>
          <a:bodyPr wrap="square">
            <a:spAutoFit/>
          </a:bodyPr>
          <a:lstStyle/>
          <a:p>
            <a:pPr>
              <a:lnSpc>
                <a:spcPct val="115000"/>
              </a:lnSpc>
              <a:spcAft>
                <a:spcPts val="800"/>
              </a:spcAft>
            </a:pPr>
            <a:r>
              <a:rPr sz="1200" b="1">
                <a:solidFill>
                  <a:srgbClr val="FFFFFF"/>
                </a:solidFill>
                <a:latin typeface="Arial"/>
              </a:rPr>
              <a:t>[Project Guide Name: _________________] </a:t>
            </a:r>
            <a:r>
              <a:rPr sz="1200">
                <a:solidFill>
                  <a:srgbClr val="94A3B8"/>
                </a:solidFill>
                <a:latin typeface="Arial"/>
              </a:rPr>
              <a:t>[Designation, Department of CSE]</a:t>
            </a:r>
          </a:p>
          <a:p>
            <a:pPr>
              <a:lnSpc>
                <a:spcPct val="115000"/>
              </a:lnSpc>
              <a:spcAft>
                <a:spcPts val="800"/>
              </a:spcAft>
            </a:pPr>
            <a:r>
              <a:rPr sz="1200" b="1">
                <a:solidFill>
                  <a:srgbClr val="FFFFFF"/>
                </a:solidFill>
                <a:latin typeface="Arial"/>
              </a:rPr>
              <a:t>Degree Award: </a:t>
            </a:r>
            <a:r>
              <a:rPr sz="1200">
                <a:solidFill>
                  <a:srgbClr val="94A3B8"/>
                </a:solidFill>
                <a:latin typeface="Arial"/>
              </a:rPr>
              <a:t>Bachelor of Technology / Engineering (CSE/IT)</a:t>
            </a:r>
          </a:p>
          <a:p>
            <a:pPr>
              <a:lnSpc>
                <a:spcPct val="115000"/>
              </a:lnSpc>
              <a:spcAft>
                <a:spcPts val="800"/>
              </a:spcAft>
            </a:pPr>
            <a:r>
              <a:rPr sz="1200" b="1">
                <a:solidFill>
                  <a:srgbClr val="FFFFFF"/>
                </a:solidFill>
                <a:latin typeface="Arial"/>
              </a:rPr>
              <a:t>Academic Year: </a:t>
            </a:r>
            <a:r>
              <a:rPr sz="1200">
                <a:solidFill>
                  <a:srgbClr val="94A3B8"/>
                </a:solidFill>
                <a:latin typeface="Arial"/>
              </a:rPr>
              <a:t>2025 – 2026</a:t>
            </a:r>
          </a:p>
          <a:p>
            <a:pPr>
              <a:lnSpc>
                <a:spcPct val="115000"/>
              </a:lnSpc>
              <a:spcAft>
                <a:spcPts val="800"/>
              </a:spcAft>
            </a:pPr>
            <a:r>
              <a:rPr sz="1200" b="1">
                <a:solidFill>
                  <a:srgbClr val="FFFFFF"/>
                </a:solidFill>
                <a:latin typeface="Arial"/>
              </a:rPr>
              <a:t>Evaluation Phase: </a:t>
            </a:r>
            <a:r>
              <a:rPr sz="1200">
                <a:solidFill>
                  <a:srgbClr val="94A3B8"/>
                </a:solidFill>
                <a:latin typeface="Arial"/>
              </a:rPr>
              <a:t>Final Semester Capstone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01. PROBLEM CONTEXT</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Problem Statement and Motivation</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663440" cy="457200"/>
          </a:xfrm>
          <a:prstGeom prst="rect">
            <a:avLst/>
          </a:prstGeom>
          <a:noFill/>
        </p:spPr>
        <p:txBody>
          <a:bodyPr wrap="none">
            <a:spAutoFit/>
          </a:bodyPr>
          <a:lstStyle/>
          <a:p>
            <a:pPr>
              <a:defRPr sz="1400" b="1">
                <a:solidFill>
                  <a:srgbClr val="0EA5E9"/>
                </a:solidFill>
                <a:latin typeface="Arial"/>
              </a:defRPr>
            </a:pPr>
            <a:r>
              <a:t>THE SURVEILLANCE LANDSCAPE</a:t>
            </a:r>
          </a:p>
        </p:txBody>
      </p:sp>
      <p:sp>
        <p:nvSpPr>
          <p:cNvPr id="8" name="TextBox 7"/>
          <p:cNvSpPr txBox="1"/>
          <p:nvPr/>
        </p:nvSpPr>
        <p:spPr>
          <a:xfrm>
            <a:off x="100584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IP Geolocation &amp; Eavesdropping: </a:t>
            </a:r>
            <a:r>
              <a:rPr sz="1300">
                <a:solidFill>
                  <a:srgbClr val="94A3B8"/>
                </a:solidFill>
                <a:latin typeface="Arial"/>
              </a:rPr>
              <a:t>Standard browsers expose the user's public IP address to every target web server, enabling ISPs and data brokers to correlate cross-session browsing.</a:t>
            </a:r>
          </a:p>
          <a:p>
            <a:pPr>
              <a:lnSpc>
                <a:spcPct val="115000"/>
              </a:lnSpc>
              <a:spcAft>
                <a:spcPts val="800"/>
              </a:spcAft>
            </a:pPr>
            <a:r>
              <a:rPr sz="1300" b="1">
                <a:solidFill>
                  <a:srgbClr val="FFFFFF"/>
                </a:solidFill>
                <a:latin typeface="Arial"/>
              </a:rPr>
              <a:t>Stateless Device Fingerprinting: </a:t>
            </a:r>
            <a:r>
              <a:rPr sz="1300">
                <a:solidFill>
                  <a:srgbClr val="94A3B8"/>
                </a:solidFill>
                <a:latin typeface="Arial"/>
              </a:rPr>
              <a:t>Modern trackers query HTML5 Canvas rendering, WebGL GPU parameters, and AudioContext oscillators to construct persistent hardware fingerprints.</a:t>
            </a:r>
          </a:p>
          <a:p>
            <a:pPr>
              <a:lnSpc>
                <a:spcPct val="115000"/>
              </a:lnSpc>
              <a:spcAft>
                <a:spcPts val="800"/>
              </a:spcAft>
            </a:pPr>
            <a:r>
              <a:rPr sz="1300" b="1">
                <a:solidFill>
                  <a:srgbClr val="FFFFFF"/>
                </a:solidFill>
                <a:latin typeface="Arial"/>
              </a:rPr>
              <a:t>Link Decoration &amp; State Tracking: </a:t>
            </a:r>
            <a:r>
              <a:rPr sz="1300">
                <a:solidFill>
                  <a:srgbClr val="94A3B8"/>
                </a:solidFill>
                <a:latin typeface="Arial"/>
              </a:rPr>
              <a:t>Commercial advertising networks append cross-domain tracking tokens (gclid, fbclid, utm_*) to URLs, bypassing basic cookie clearing.</a:t>
            </a:r>
          </a:p>
        </p:txBody>
      </p:sp>
      <p:sp>
        <p:nvSpPr>
          <p:cNvPr id="9" name="Rounded Rectangle 8"/>
          <p:cNvSpPr/>
          <p:nvPr/>
        </p:nvSpPr>
        <p:spPr>
          <a:xfrm>
            <a:off x="630936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828800"/>
            <a:ext cx="4663440" cy="457200"/>
          </a:xfrm>
          <a:prstGeom prst="rect">
            <a:avLst/>
          </a:prstGeom>
          <a:noFill/>
        </p:spPr>
        <p:txBody>
          <a:bodyPr wrap="none">
            <a:spAutoFit/>
          </a:bodyPr>
          <a:lstStyle/>
          <a:p>
            <a:pPr>
              <a:defRPr sz="1400" b="1">
                <a:solidFill>
                  <a:srgbClr val="0EA5E9"/>
                </a:solidFill>
                <a:latin typeface="Arial"/>
              </a:defRPr>
            </a:pPr>
            <a:r>
              <a:t>MOTIVATION FOR SHADOWBROWSE</a:t>
            </a:r>
          </a:p>
        </p:txBody>
      </p:sp>
      <p:sp>
        <p:nvSpPr>
          <p:cNvPr id="11" name="TextBox 10"/>
          <p:cNvSpPr txBox="1"/>
          <p:nvPr/>
        </p:nvSpPr>
        <p:spPr>
          <a:xfrm>
            <a:off x="658368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70%+ Desktop Chromium Domination: </a:t>
            </a:r>
            <a:r>
              <a:rPr sz="1300">
                <a:solidFill>
                  <a:srgbClr val="94A3B8"/>
                </a:solidFill>
                <a:latin typeface="Arial"/>
              </a:rPr>
              <a:t>Chrome, Edge, and Brave dominate the desktop market. Users resist switching to Tor Browser due to workflow disruption; privacy must come to Chromium.</a:t>
            </a:r>
          </a:p>
          <a:p>
            <a:pPr>
              <a:lnSpc>
                <a:spcPct val="115000"/>
              </a:lnSpc>
              <a:spcAft>
                <a:spcPts val="800"/>
              </a:spcAft>
            </a:pPr>
            <a:r>
              <a:rPr sz="1300" b="1">
                <a:solidFill>
                  <a:srgbClr val="FFFFFF"/>
                </a:solidFill>
                <a:latin typeface="Arial"/>
              </a:rPr>
              <a:t>Flaws of Commercial VPNs: </a:t>
            </a:r>
            <a:r>
              <a:rPr sz="1300">
                <a:solidFill>
                  <a:srgbClr val="94A3B8"/>
                </a:solidFill>
                <a:latin typeface="Arial"/>
              </a:rPr>
              <a:t>Commercial VPNs act as centralized points of trust, frequently log traffic, and suffer from unverified DNS leaks.</a:t>
            </a:r>
          </a:p>
          <a:p>
            <a:pPr>
              <a:lnSpc>
                <a:spcPct val="115000"/>
              </a:lnSpc>
              <a:spcAft>
                <a:spcPts val="800"/>
              </a:spcAft>
            </a:pPr>
            <a:r>
              <a:rPr sz="1300" b="1">
                <a:solidFill>
                  <a:srgbClr val="FFFFFF"/>
                </a:solidFill>
                <a:latin typeface="Arial"/>
              </a:rPr>
              <a:t>The Manifest V3 Challenge: </a:t>
            </a:r>
            <a:r>
              <a:rPr sz="1300">
                <a:solidFill>
                  <a:srgbClr val="94A3B8"/>
                </a:solidFill>
                <a:latin typeface="Arial"/>
              </a:rPr>
              <a:t>Google's deprecation of blocking webRequest requires novel architectural designs for extension security, loopback IPC, and fail-closed proxy routing.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02. PROJECT SCOPE</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Aims, Objectives, and Engineering Scope</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663440" cy="457200"/>
          </a:xfrm>
          <a:prstGeom prst="rect">
            <a:avLst/>
          </a:prstGeom>
          <a:noFill/>
        </p:spPr>
        <p:txBody>
          <a:bodyPr wrap="none">
            <a:spAutoFit/>
          </a:bodyPr>
          <a:lstStyle/>
          <a:p>
            <a:pPr>
              <a:defRPr sz="1400" b="1">
                <a:solidFill>
                  <a:srgbClr val="0EA5E9"/>
                </a:solidFill>
                <a:latin typeface="Arial"/>
              </a:defRPr>
            </a:pPr>
            <a:r>
              <a:t>CORE TECHNICAL OBJECTIVES</a:t>
            </a:r>
          </a:p>
        </p:txBody>
      </p:sp>
      <p:sp>
        <p:nvSpPr>
          <p:cNvPr id="8" name="TextBox 7"/>
          <p:cNvSpPr txBox="1"/>
          <p:nvPr/>
        </p:nvSpPr>
        <p:spPr>
          <a:xfrm>
            <a:off x="100584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1. Manifest V3 Extension Engine: </a:t>
            </a:r>
            <a:r>
              <a:rPr sz="1300">
                <a:solidFill>
                  <a:srgbClr val="94A3B8"/>
                </a:solidFill>
                <a:latin typeface="Arial"/>
              </a:rPr>
              <a:t>Build a high-performance unpacked Chromium extension using React 18, TypeScript 5.5, and modern dark design tokens.</a:t>
            </a:r>
          </a:p>
          <a:p>
            <a:pPr>
              <a:lnSpc>
                <a:spcPct val="115000"/>
              </a:lnSpc>
              <a:spcAft>
                <a:spcPts val="800"/>
              </a:spcAft>
            </a:pPr>
            <a:r>
              <a:rPr sz="1300" b="1">
                <a:solidFill>
                  <a:srgbClr val="FFFFFF"/>
                </a:solidFill>
                <a:latin typeface="Arial"/>
              </a:rPr>
              <a:t>2. Decoupled Loopback Agent: </a:t>
            </a:r>
            <a:r>
              <a:rPr sz="1300">
                <a:solidFill>
                  <a:srgbClr val="94A3B8"/>
                </a:solidFill>
                <a:latin typeface="Arial"/>
              </a:rPr>
              <a:t>Implement a secure FastAPI daemon on 127.0.0.1:9152 enforcing constant-time HMAC token authentication for out-of-band verification.</a:t>
            </a:r>
          </a:p>
          <a:p>
            <a:pPr>
              <a:lnSpc>
                <a:spcPct val="115000"/>
              </a:lnSpc>
              <a:spcAft>
                <a:spcPts val="800"/>
              </a:spcAft>
            </a:pPr>
            <a:r>
              <a:rPr sz="1300" b="1">
                <a:solidFill>
                  <a:srgbClr val="FFFFFF"/>
                </a:solidFill>
                <a:latin typeface="Arial"/>
              </a:rPr>
              <a:t>3. Native Tor SOCKS5 Integration: </a:t>
            </a:r>
            <a:r>
              <a:rPr sz="1300">
                <a:solidFill>
                  <a:srgbClr val="94A3B8"/>
                </a:solidFill>
                <a:latin typeface="Arial"/>
              </a:rPr>
              <a:t>Embed Tor 0.4.8.14 expert bundle binaries for automatic background bootstrapping, circuit probing, and ControlPort monitoring.</a:t>
            </a:r>
          </a:p>
          <a:p>
            <a:pPr>
              <a:lnSpc>
                <a:spcPct val="115000"/>
              </a:lnSpc>
              <a:spcAft>
                <a:spcPts val="800"/>
              </a:spcAft>
            </a:pPr>
            <a:r>
              <a:rPr sz="1300" b="1">
                <a:solidFill>
                  <a:srgbClr val="FFFFFF"/>
                </a:solidFill>
                <a:latin typeface="Arial"/>
              </a:rPr>
              <a:t>4. Active DOM Fingerprint Defenses: </a:t>
            </a:r>
            <a:r>
              <a:rPr sz="1300">
                <a:solidFill>
                  <a:srgbClr val="94A3B8"/>
                </a:solidFill>
                <a:latin typeface="Arial"/>
              </a:rPr>
              <a:t>Inject subtle micro-noise into Canvas and WebGL calls to spoil tracking hashes without breaking user UI visual fidelity.</a:t>
            </a:r>
          </a:p>
        </p:txBody>
      </p:sp>
      <p:sp>
        <p:nvSpPr>
          <p:cNvPr id="9" name="Rounded Rectangle 8"/>
          <p:cNvSpPr/>
          <p:nvPr/>
        </p:nvSpPr>
        <p:spPr>
          <a:xfrm>
            <a:off x="630936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828800"/>
            <a:ext cx="4663440" cy="457200"/>
          </a:xfrm>
          <a:prstGeom prst="rect">
            <a:avLst/>
          </a:prstGeom>
          <a:noFill/>
        </p:spPr>
        <p:txBody>
          <a:bodyPr wrap="none">
            <a:spAutoFit/>
          </a:bodyPr>
          <a:lstStyle/>
          <a:p>
            <a:pPr>
              <a:defRPr sz="1400" b="1">
                <a:solidFill>
                  <a:srgbClr val="0EA5E9"/>
                </a:solidFill>
                <a:latin typeface="Arial"/>
              </a:defRPr>
            </a:pPr>
            <a:r>
              <a:t>ENGINEERING SCOPE &amp; BOUNDARIES</a:t>
            </a:r>
          </a:p>
        </p:txBody>
      </p:sp>
      <p:sp>
        <p:nvSpPr>
          <p:cNvPr id="11" name="TextBox 10"/>
          <p:cNvSpPr txBox="1"/>
          <p:nvPr/>
        </p:nvSpPr>
        <p:spPr>
          <a:xfrm>
            <a:off x="658368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Supported Environment: </a:t>
            </a:r>
            <a:r>
              <a:rPr sz="1300">
                <a:solidFill>
                  <a:srgbClr val="94A3B8"/>
                </a:solidFill>
                <a:latin typeface="Arial"/>
              </a:rPr>
              <a:t>Chromium-based browsers (Google Chrome 114+, Brave, Edge) on Windows 10/11 x64 systems.</a:t>
            </a:r>
          </a:p>
          <a:p>
            <a:pPr>
              <a:lnSpc>
                <a:spcPct val="115000"/>
              </a:lnSpc>
              <a:spcAft>
                <a:spcPts val="800"/>
              </a:spcAft>
            </a:pPr>
            <a:r>
              <a:rPr sz="1300" b="1">
                <a:solidFill>
                  <a:srgbClr val="FFFFFF"/>
                </a:solidFill>
                <a:latin typeface="Arial"/>
              </a:rPr>
              <a:t>Egress Verification: </a:t>
            </a:r>
            <a:r>
              <a:rPr sz="1300">
                <a:solidFill>
                  <a:srgbClr val="94A3B8"/>
                </a:solidFill>
                <a:latin typeface="Arial"/>
              </a:rPr>
              <a:t>Cryptographic confirmation of Tor exit status via authenticated SOCKS5 queries to check.torproject.org.</a:t>
            </a:r>
          </a:p>
          <a:p>
            <a:pPr>
              <a:lnSpc>
                <a:spcPct val="115000"/>
              </a:lnSpc>
              <a:spcAft>
                <a:spcPts val="800"/>
              </a:spcAft>
            </a:pPr>
            <a:r>
              <a:rPr sz="1300" b="1">
                <a:solidFill>
                  <a:srgbClr val="FFFFFF"/>
                </a:solidFill>
                <a:latin typeface="Arial"/>
              </a:rPr>
              <a:t>Automated Fail-Closed Kill Switch: </a:t>
            </a:r>
            <a:r>
              <a:rPr sz="1300">
                <a:solidFill>
                  <a:srgbClr val="94A3B8"/>
                </a:solidFill>
                <a:latin typeface="Arial"/>
              </a:rPr>
              <a:t>Instant redirection to 127.0.0.1:9 discard blackhole proxy if the Tor daemon collapses.</a:t>
            </a:r>
          </a:p>
          <a:p>
            <a:pPr>
              <a:lnSpc>
                <a:spcPct val="115000"/>
              </a:lnSpc>
              <a:spcAft>
                <a:spcPts val="800"/>
              </a:spcAft>
            </a:pPr>
            <a:r>
              <a:rPr sz="1300" b="1">
                <a:solidFill>
                  <a:srgbClr val="FFFFFF"/>
                </a:solidFill>
                <a:latin typeface="Arial"/>
              </a:rPr>
              <a:t>Explicit Non-Goals: </a:t>
            </a:r>
            <a:r>
              <a:rPr sz="1300">
                <a:solidFill>
                  <a:srgbClr val="94A3B8"/>
                </a:solidFill>
                <a:latin typeface="Arial"/>
              </a:rPr>
              <a:t>Does not attempt kernel-level packet inspection or OS-wide VPN tunneling outside the browser application layer.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03. ARCHITECTURAL COMPARISON</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Comparative Analysis: Existing Tools vs. ShadowBrowse</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728655"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271455" cy="457200"/>
          </a:xfrm>
          <a:prstGeom prst="rect">
            <a:avLst/>
          </a:prstGeom>
          <a:noFill/>
        </p:spPr>
        <p:txBody>
          <a:bodyPr wrap="none">
            <a:spAutoFit/>
          </a:bodyPr>
          <a:lstStyle/>
          <a:p>
            <a:pPr>
              <a:defRPr sz="1400" b="1">
                <a:solidFill>
                  <a:srgbClr val="0EA5E9"/>
                </a:solidFill>
                <a:latin typeface="Arial"/>
              </a:defRPr>
            </a:pPr>
            <a:r>
              <a:t>SYSTEM COMPARISON MATRIX</a:t>
            </a:r>
          </a:p>
        </p:txBody>
      </p:sp>
      <p:sp>
        <p:nvSpPr>
          <p:cNvPr id="8" name="TextBox 7"/>
          <p:cNvSpPr txBox="1"/>
          <p:nvPr/>
        </p:nvSpPr>
        <p:spPr>
          <a:xfrm>
            <a:off x="1097280" y="2194560"/>
            <a:ext cx="10058400" cy="3840480"/>
          </a:xfrm>
          <a:prstGeom prst="rect">
            <a:avLst/>
          </a:prstGeom>
          <a:noFill/>
        </p:spPr>
        <p:txBody>
          <a:bodyPr wrap="square">
            <a:spAutoFit/>
          </a:bodyPr>
          <a:lstStyle/>
          <a:p>
            <a:pPr>
              <a:lnSpc>
                <a:spcPct val="115000"/>
              </a:lnSpc>
              <a:spcAft>
                <a:spcPts val="800"/>
              </a:spcAft>
            </a:pPr>
            <a:r>
              <a:rPr sz="1300" b="1">
                <a:solidFill>
                  <a:srgbClr val="FFFFFF"/>
                </a:solidFill>
                <a:latin typeface="Arial"/>
              </a:rPr>
              <a:t>Tor Browser Bundle: </a:t>
            </a:r>
            <a:r>
              <a:rPr sz="1300">
                <a:solidFill>
                  <a:srgbClr val="94A3B8"/>
                </a:solidFill>
                <a:latin typeface="Arial"/>
              </a:rPr>
              <a:t>Provides gold-standard multi-hop onion routing, but built on Firefox ESR; lacks support for Chrome extensions and corporate Chromium environments.</a:t>
            </a:r>
          </a:p>
          <a:p>
            <a:pPr>
              <a:lnSpc>
                <a:spcPct val="115000"/>
              </a:lnSpc>
              <a:spcAft>
                <a:spcPts val="800"/>
              </a:spcAft>
            </a:pPr>
            <a:r>
              <a:rPr sz="1300" b="1">
                <a:solidFill>
                  <a:srgbClr val="FFFFFF"/>
                </a:solidFill>
                <a:latin typeface="Arial"/>
              </a:rPr>
              <a:t>Commercial VPN Extensions: </a:t>
            </a:r>
            <a:r>
              <a:rPr sz="1300">
                <a:solidFill>
                  <a:srgbClr val="94A3B8"/>
                </a:solidFill>
                <a:latin typeface="Arial"/>
              </a:rPr>
              <a:t>Single-hop proxies with proprietary backends; cannot be audited for logging; zero active DOM canvas or audio fingerprint defenses.</a:t>
            </a:r>
          </a:p>
          <a:p>
            <a:pPr>
              <a:lnSpc>
                <a:spcPct val="115000"/>
              </a:lnSpc>
              <a:spcAft>
                <a:spcPts val="800"/>
              </a:spcAft>
            </a:pPr>
            <a:r>
              <a:rPr sz="1300" b="1">
                <a:solidFill>
                  <a:srgbClr val="FFFFFF"/>
                </a:solidFill>
                <a:latin typeface="Arial"/>
              </a:rPr>
              <a:t>Incognito / Private Window: </a:t>
            </a:r>
            <a:r>
              <a:rPr sz="1300">
                <a:solidFill>
                  <a:srgbClr val="94A3B8"/>
                </a:solidFill>
                <a:latin typeface="Arial"/>
              </a:rPr>
              <a:t>Only clears local cookies on tab close; provides zero IP masking, zero DNS protection, and exposes identical hardware fingerprints.</a:t>
            </a:r>
          </a:p>
          <a:p>
            <a:pPr>
              <a:lnSpc>
                <a:spcPct val="115000"/>
              </a:lnSpc>
              <a:spcAft>
                <a:spcPts val="800"/>
              </a:spcAft>
            </a:pPr>
            <a:r>
              <a:rPr sz="1300" b="1">
                <a:solidFill>
                  <a:srgbClr val="FFFFFF"/>
                </a:solidFill>
                <a:latin typeface="Arial"/>
              </a:rPr>
              <a:t>Standard Content Blockers (uBlock, etc.): </a:t>
            </a:r>
            <a:r>
              <a:rPr sz="1300">
                <a:solidFill>
                  <a:srgbClr val="94A3B8"/>
                </a:solidFill>
                <a:latin typeface="Arial"/>
              </a:rPr>
              <a:t>Filter URLs and cosmetic DOM elements, but cannot re-route browser network egress through Tor or enforce a network kill switch.</a:t>
            </a:r>
          </a:p>
          <a:p>
            <a:pPr>
              <a:lnSpc>
                <a:spcPct val="115000"/>
              </a:lnSpc>
              <a:spcAft>
                <a:spcPts val="800"/>
              </a:spcAft>
            </a:pPr>
            <a:r>
              <a:rPr sz="1300" b="1">
                <a:solidFill>
                  <a:srgbClr val="FFFFFF"/>
                </a:solidFill>
                <a:latin typeface="Arial"/>
              </a:rPr>
              <a:t>ShadowBrowse (Proposed): </a:t>
            </a:r>
            <a:r>
              <a:rPr sz="1300">
                <a:solidFill>
                  <a:srgbClr val="94A3B8"/>
                </a:solidFill>
                <a:latin typeface="Arial"/>
              </a:rPr>
              <a:t>Combines multi-hop Tor SOCKS5 routing, out-of-band cryptographic exit verification, active DOM noise injection, and an automated fail-closed discard blackhole—all within native Chromium MV3.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04. SYSTEM ARCHITECTURE</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Two-Tier Coordinated Architecture</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663440" cy="457200"/>
          </a:xfrm>
          <a:prstGeom prst="rect">
            <a:avLst/>
          </a:prstGeom>
          <a:noFill/>
        </p:spPr>
        <p:txBody>
          <a:bodyPr wrap="none">
            <a:spAutoFit/>
          </a:bodyPr>
          <a:lstStyle/>
          <a:p>
            <a:pPr>
              <a:defRPr sz="1400" b="1">
                <a:solidFill>
                  <a:srgbClr val="0EA5E9"/>
                </a:solidFill>
                <a:latin typeface="Arial"/>
              </a:defRPr>
            </a:pPr>
            <a:r>
              <a:t>TIER 1 — BROWSER EXTENSION (MV3)</a:t>
            </a:r>
          </a:p>
        </p:txBody>
      </p:sp>
      <p:sp>
        <p:nvSpPr>
          <p:cNvPr id="8" name="TextBox 7"/>
          <p:cNvSpPr txBox="1"/>
          <p:nvPr/>
        </p:nvSpPr>
        <p:spPr>
          <a:xfrm>
            <a:off x="100584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Background Service Worker: </a:t>
            </a:r>
            <a:r>
              <a:rPr sz="1300">
                <a:solidFill>
                  <a:srgbClr val="94A3B8"/>
                </a:solidFill>
                <a:latin typeface="Arial"/>
              </a:rPr>
              <a:t>Manages extension lifecycle, coordinates proxy state, and buffers privacy telemetry.</a:t>
            </a:r>
          </a:p>
          <a:p>
            <a:pPr>
              <a:lnSpc>
                <a:spcPct val="115000"/>
              </a:lnSpc>
              <a:spcAft>
                <a:spcPts val="800"/>
              </a:spcAft>
            </a:pPr>
            <a:r>
              <a:rPr sz="1300" b="1">
                <a:solidFill>
                  <a:srgbClr val="FFFFFF"/>
                </a:solidFill>
                <a:latin typeface="Arial"/>
              </a:rPr>
              <a:t>Network Controller: </a:t>
            </a:r>
            <a:r>
              <a:rPr sz="1300">
                <a:solidFill>
                  <a:srgbClr val="94A3B8"/>
                </a:solidFill>
                <a:latin typeface="Arial"/>
              </a:rPr>
              <a:t>Controls chrome.proxy API; applies fixed_servers rules (socks5://127.0.0.1:9050) and snapshots baseline proxy.</a:t>
            </a:r>
          </a:p>
          <a:p>
            <a:pPr>
              <a:lnSpc>
                <a:spcPct val="115000"/>
              </a:lnSpc>
              <a:spcAft>
                <a:spcPts val="800"/>
              </a:spcAft>
            </a:pPr>
            <a:r>
              <a:rPr sz="1300" b="1">
                <a:solidFill>
                  <a:srgbClr val="FFFFFF"/>
                </a:solidFill>
                <a:latin typeface="Arial"/>
              </a:rPr>
              <a:t>Privacy Event Engine: </a:t>
            </a:r>
            <a:r>
              <a:rPr sz="1300">
                <a:solidFill>
                  <a:srgbClr val="94A3B8"/>
                </a:solidFill>
                <a:latin typeface="Arial"/>
              </a:rPr>
              <a:t>Sanitizes telemetry, strips URL query parameters, and maintains a strict 200-event ring buffer in chrome.storage.local.</a:t>
            </a:r>
          </a:p>
          <a:p>
            <a:pPr>
              <a:lnSpc>
                <a:spcPct val="115000"/>
              </a:lnSpc>
              <a:spcAft>
                <a:spcPts val="800"/>
              </a:spcAft>
            </a:pPr>
            <a:r>
              <a:rPr sz="1300" b="1">
                <a:solidFill>
                  <a:srgbClr val="FFFFFF"/>
                </a:solidFill>
                <a:latin typeface="Arial"/>
              </a:rPr>
              <a:t>DOM Injected Guard: </a:t>
            </a:r>
            <a:r>
              <a:rPr sz="1300">
                <a:solidFill>
                  <a:srgbClr val="94A3B8"/>
                </a:solidFill>
                <a:latin typeface="Arial"/>
              </a:rPr>
              <a:t>Executes at document_start in page frames to inject micro-noise into Canvas, WebGL, and AudioContext APIs.</a:t>
            </a:r>
          </a:p>
        </p:txBody>
      </p:sp>
      <p:sp>
        <p:nvSpPr>
          <p:cNvPr id="9" name="Rounded Rectangle 8"/>
          <p:cNvSpPr/>
          <p:nvPr/>
        </p:nvSpPr>
        <p:spPr>
          <a:xfrm>
            <a:off x="630936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828800"/>
            <a:ext cx="4663440" cy="457200"/>
          </a:xfrm>
          <a:prstGeom prst="rect">
            <a:avLst/>
          </a:prstGeom>
          <a:noFill/>
        </p:spPr>
        <p:txBody>
          <a:bodyPr wrap="none">
            <a:spAutoFit/>
          </a:bodyPr>
          <a:lstStyle/>
          <a:p>
            <a:pPr>
              <a:defRPr sz="1400" b="1">
                <a:solidFill>
                  <a:srgbClr val="0EA5E9"/>
                </a:solidFill>
                <a:latin typeface="Arial"/>
              </a:defRPr>
            </a:pPr>
            <a:r>
              <a:t>TIER 2 — LOCAL DAEMONS (LOOPBACK)</a:t>
            </a:r>
          </a:p>
        </p:txBody>
      </p:sp>
      <p:sp>
        <p:nvSpPr>
          <p:cNvPr id="11" name="TextBox 10"/>
          <p:cNvSpPr txBox="1"/>
          <p:nvPr/>
        </p:nvSpPr>
        <p:spPr>
          <a:xfrm>
            <a:off x="658368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Local Privacy Agent (FastAPI): </a:t>
            </a:r>
            <a:r>
              <a:rPr sz="1300">
                <a:solidFill>
                  <a:srgbClr val="94A3B8"/>
                </a:solidFill>
                <a:latin typeface="Arial"/>
              </a:rPr>
              <a:t>Runs on http://127.0.0.1:9152; enforces constant-time HMAC token verification for all endpoints.</a:t>
            </a:r>
          </a:p>
          <a:p>
            <a:pPr>
              <a:lnSpc>
                <a:spcPct val="115000"/>
              </a:lnSpc>
              <a:spcAft>
                <a:spcPts val="800"/>
              </a:spcAft>
            </a:pPr>
            <a:r>
              <a:rPr sz="1300" b="1">
                <a:solidFill>
                  <a:srgbClr val="FFFFFF"/>
                </a:solidFill>
                <a:latin typeface="Arial"/>
              </a:rPr>
              <a:t>Out-of-Band Route Verifier: </a:t>
            </a:r>
            <a:r>
              <a:rPr sz="1300">
                <a:solidFill>
                  <a:srgbClr val="94A3B8"/>
                </a:solidFill>
                <a:latin typeface="Arial"/>
              </a:rPr>
              <a:t>Issues independent SOCKS5 queries to check.torproject.org to confirm genuine exit node consensus.</a:t>
            </a:r>
          </a:p>
          <a:p>
            <a:pPr>
              <a:lnSpc>
                <a:spcPct val="115000"/>
              </a:lnSpc>
              <a:spcAft>
                <a:spcPts val="800"/>
              </a:spcAft>
            </a:pPr>
            <a:r>
              <a:rPr sz="1300" b="1">
                <a:solidFill>
                  <a:srgbClr val="FFFFFF"/>
                </a:solidFill>
                <a:latin typeface="Arial"/>
              </a:rPr>
              <a:t>Native Tor Daemon 0.4.8.14: </a:t>
            </a:r>
            <a:r>
              <a:rPr sz="1300">
                <a:solidFill>
                  <a:srgbClr val="94A3B8"/>
                </a:solidFill>
                <a:latin typeface="Arial"/>
              </a:rPr>
              <a:t>Provides local SOCKS5 proxy on port 9050 and ControlPort on port 9051 for circuit lifecycle management.</a:t>
            </a:r>
          </a:p>
          <a:p>
            <a:pPr>
              <a:lnSpc>
                <a:spcPct val="115000"/>
              </a:lnSpc>
              <a:spcAft>
                <a:spcPts val="800"/>
              </a:spcAft>
            </a:pPr>
            <a:r>
              <a:rPr sz="1300" b="1">
                <a:solidFill>
                  <a:srgbClr val="FFFFFF"/>
                </a:solidFill>
                <a:latin typeface="Arial"/>
              </a:rPr>
              <a:t>Privilege Boundary: </a:t>
            </a:r>
            <a:r>
              <a:rPr sz="1300">
                <a:solidFill>
                  <a:srgbClr val="94A3B8"/>
                </a:solidFill>
                <a:latin typeface="Arial"/>
              </a:rPr>
              <a:t>Separates dangerous system networking tasks from the browser sandbox, preventing cross-origin script injection.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05. IMPLEMENTATION STACK</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Technology Stack and Engineering Decisions</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2918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2834640" cy="457200"/>
          </a:xfrm>
          <a:prstGeom prst="rect">
            <a:avLst/>
          </a:prstGeom>
          <a:noFill/>
        </p:spPr>
        <p:txBody>
          <a:bodyPr wrap="none">
            <a:spAutoFit/>
          </a:bodyPr>
          <a:lstStyle/>
          <a:p>
            <a:pPr>
              <a:defRPr sz="1400" b="1">
                <a:solidFill>
                  <a:srgbClr val="0EA5E9"/>
                </a:solidFill>
                <a:latin typeface="Arial"/>
              </a:defRPr>
            </a:pPr>
            <a:r>
              <a:t>FRONTEND &amp; EXTENSION</a:t>
            </a:r>
          </a:p>
        </p:txBody>
      </p:sp>
      <p:sp>
        <p:nvSpPr>
          <p:cNvPr id="8" name="TextBox 7"/>
          <p:cNvSpPr txBox="1"/>
          <p:nvPr/>
        </p:nvSpPr>
        <p:spPr>
          <a:xfrm>
            <a:off x="914400" y="2286000"/>
            <a:ext cx="2926080" cy="3657600"/>
          </a:xfrm>
          <a:prstGeom prst="rect">
            <a:avLst/>
          </a:prstGeom>
          <a:noFill/>
        </p:spPr>
        <p:txBody>
          <a:bodyPr wrap="square">
            <a:spAutoFit/>
          </a:bodyPr>
          <a:lstStyle/>
          <a:p>
            <a:pPr>
              <a:lnSpc>
                <a:spcPct val="115000"/>
              </a:lnSpc>
              <a:spcAft>
                <a:spcPts val="800"/>
              </a:spcAft>
            </a:pPr>
            <a:r>
              <a:rPr sz="1200" b="1">
                <a:solidFill>
                  <a:srgbClr val="FFFFFF"/>
                </a:solidFill>
                <a:latin typeface="Arial"/>
              </a:rPr>
              <a:t>React 18.3: </a:t>
            </a:r>
            <a:r>
              <a:rPr sz="1200">
                <a:solidFill>
                  <a:srgbClr val="94A3B8"/>
                </a:solidFill>
                <a:latin typeface="Arial"/>
              </a:rPr>
              <a:t>Declarative virtual DOM component tree for responsive UI.</a:t>
            </a:r>
          </a:p>
          <a:p>
            <a:pPr>
              <a:lnSpc>
                <a:spcPct val="115000"/>
              </a:lnSpc>
              <a:spcAft>
                <a:spcPts val="800"/>
              </a:spcAft>
            </a:pPr>
            <a:r>
              <a:rPr sz="1200" b="1">
                <a:solidFill>
                  <a:srgbClr val="FFFFFF"/>
                </a:solidFill>
                <a:latin typeface="Arial"/>
              </a:rPr>
              <a:t>TypeScript 5.5: </a:t>
            </a:r>
            <a:r>
              <a:rPr sz="1200">
                <a:solidFill>
                  <a:srgbClr val="94A3B8"/>
                </a:solidFill>
                <a:latin typeface="Arial"/>
              </a:rPr>
              <a:t>Strict compile-time type safety across extension messages and storage schemas.</a:t>
            </a:r>
          </a:p>
          <a:p>
            <a:pPr>
              <a:lnSpc>
                <a:spcPct val="115000"/>
              </a:lnSpc>
              <a:spcAft>
                <a:spcPts val="800"/>
              </a:spcAft>
            </a:pPr>
            <a:r>
              <a:rPr sz="1200" b="1">
                <a:solidFill>
                  <a:srgbClr val="FFFFFF"/>
                </a:solidFill>
                <a:latin typeface="Arial"/>
              </a:rPr>
              <a:t>Vite 6.4.3: </a:t>
            </a:r>
            <a:r>
              <a:rPr sz="1200">
                <a:solidFill>
                  <a:srgbClr val="94A3B8"/>
                </a:solidFill>
                <a:latin typeface="Arial"/>
              </a:rPr>
              <a:t>Ultra-fast tree-shaking, production bundling with 0 source maps emitted.</a:t>
            </a:r>
          </a:p>
          <a:p>
            <a:pPr>
              <a:lnSpc>
                <a:spcPct val="115000"/>
              </a:lnSpc>
              <a:spcAft>
                <a:spcPts val="800"/>
              </a:spcAft>
            </a:pPr>
            <a:r>
              <a:rPr sz="1200" b="1">
                <a:solidFill>
                  <a:srgbClr val="FFFFFF"/>
                </a:solidFill>
                <a:latin typeface="Arial"/>
              </a:rPr>
              <a:t>Chrome MV3: </a:t>
            </a:r>
            <a:r>
              <a:rPr sz="1200">
                <a:solidFill>
                  <a:srgbClr val="94A3B8"/>
                </a:solidFill>
                <a:latin typeface="Arial"/>
              </a:rPr>
              <a:t>Service workers, declarative proxy rules, and strict CSP.</a:t>
            </a:r>
          </a:p>
        </p:txBody>
      </p:sp>
      <p:sp>
        <p:nvSpPr>
          <p:cNvPr id="9" name="Rounded Rectangle 8"/>
          <p:cNvSpPr/>
          <p:nvPr/>
        </p:nvSpPr>
        <p:spPr>
          <a:xfrm>
            <a:off x="4389120" y="1645920"/>
            <a:ext cx="32918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828800"/>
            <a:ext cx="2834640" cy="457200"/>
          </a:xfrm>
          <a:prstGeom prst="rect">
            <a:avLst/>
          </a:prstGeom>
          <a:noFill/>
        </p:spPr>
        <p:txBody>
          <a:bodyPr wrap="none">
            <a:spAutoFit/>
          </a:bodyPr>
          <a:lstStyle/>
          <a:p>
            <a:pPr>
              <a:defRPr sz="1400" b="1">
                <a:solidFill>
                  <a:srgbClr val="0EA5E9"/>
                </a:solidFill>
                <a:latin typeface="Arial"/>
              </a:defRPr>
            </a:pPr>
            <a:r>
              <a:t>BACKEND PRIVACY AGENT</a:t>
            </a:r>
          </a:p>
        </p:txBody>
      </p:sp>
      <p:sp>
        <p:nvSpPr>
          <p:cNvPr id="11" name="TextBox 10"/>
          <p:cNvSpPr txBox="1"/>
          <p:nvPr/>
        </p:nvSpPr>
        <p:spPr>
          <a:xfrm>
            <a:off x="4572000" y="2286000"/>
            <a:ext cx="2926080" cy="3657600"/>
          </a:xfrm>
          <a:prstGeom prst="rect">
            <a:avLst/>
          </a:prstGeom>
          <a:noFill/>
        </p:spPr>
        <p:txBody>
          <a:bodyPr wrap="square">
            <a:spAutoFit/>
          </a:bodyPr>
          <a:lstStyle/>
          <a:p>
            <a:pPr>
              <a:lnSpc>
                <a:spcPct val="115000"/>
              </a:lnSpc>
              <a:spcAft>
                <a:spcPts val="800"/>
              </a:spcAft>
            </a:pPr>
            <a:r>
              <a:rPr sz="1200" b="1">
                <a:solidFill>
                  <a:srgbClr val="FFFFFF"/>
                </a:solidFill>
                <a:latin typeface="Arial"/>
              </a:rPr>
              <a:t>Python 3.11: </a:t>
            </a:r>
            <a:r>
              <a:rPr sz="1200">
                <a:solidFill>
                  <a:srgbClr val="94A3B8"/>
                </a:solidFill>
                <a:latin typeface="Arial"/>
              </a:rPr>
              <a:t>Asynchronous runtime with high execution speed and safety.</a:t>
            </a:r>
          </a:p>
          <a:p>
            <a:pPr>
              <a:lnSpc>
                <a:spcPct val="115000"/>
              </a:lnSpc>
              <a:spcAft>
                <a:spcPts val="800"/>
              </a:spcAft>
            </a:pPr>
            <a:r>
              <a:rPr sz="1200" b="1">
                <a:solidFill>
                  <a:srgbClr val="FFFFFF"/>
                </a:solidFill>
                <a:latin typeface="Arial"/>
              </a:rPr>
              <a:t>FastAPI 0.111: </a:t>
            </a:r>
            <a:r>
              <a:rPr sz="1200">
                <a:solidFill>
                  <a:srgbClr val="94A3B8"/>
                </a:solidFill>
                <a:latin typeface="Arial"/>
              </a:rPr>
              <a:t>Asynchronous REST endpoints with automatic Pydantic validation.</a:t>
            </a:r>
          </a:p>
          <a:p>
            <a:pPr>
              <a:lnSpc>
                <a:spcPct val="115000"/>
              </a:lnSpc>
              <a:spcAft>
                <a:spcPts val="800"/>
              </a:spcAft>
            </a:pPr>
            <a:r>
              <a:rPr sz="1200" b="1">
                <a:solidFill>
                  <a:srgbClr val="FFFFFF"/>
                </a:solidFill>
                <a:latin typeface="Arial"/>
              </a:rPr>
              <a:t>Uvicorn ASGI: </a:t>
            </a:r>
            <a:r>
              <a:rPr sz="1200">
                <a:solidFill>
                  <a:srgbClr val="94A3B8"/>
                </a:solidFill>
                <a:latin typeface="Arial"/>
              </a:rPr>
              <a:t>High-throughput loopback HTTP server with strictly loopback binding.</a:t>
            </a:r>
          </a:p>
          <a:p>
            <a:pPr>
              <a:lnSpc>
                <a:spcPct val="115000"/>
              </a:lnSpc>
              <a:spcAft>
                <a:spcPts val="800"/>
              </a:spcAft>
            </a:pPr>
            <a:r>
              <a:rPr sz="1200" b="1">
                <a:solidFill>
                  <a:srgbClr val="FFFFFF"/>
                </a:solidFill>
                <a:latin typeface="Arial"/>
              </a:rPr>
              <a:t>HMAC Authentication: </a:t>
            </a:r>
            <a:r>
              <a:rPr sz="1200">
                <a:solidFill>
                  <a:srgbClr val="94A3B8"/>
                </a:solidFill>
                <a:latin typeface="Arial"/>
              </a:rPr>
              <a:t>Constant-time token comparison preventing side-channel timing attacks.</a:t>
            </a:r>
          </a:p>
        </p:txBody>
      </p:sp>
      <p:sp>
        <p:nvSpPr>
          <p:cNvPr id="12" name="Rounded Rectangle 11"/>
          <p:cNvSpPr/>
          <p:nvPr/>
        </p:nvSpPr>
        <p:spPr>
          <a:xfrm>
            <a:off x="8046720" y="1645920"/>
            <a:ext cx="338328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828800"/>
            <a:ext cx="2926080" cy="457200"/>
          </a:xfrm>
          <a:prstGeom prst="rect">
            <a:avLst/>
          </a:prstGeom>
          <a:noFill/>
        </p:spPr>
        <p:txBody>
          <a:bodyPr wrap="none">
            <a:spAutoFit/>
          </a:bodyPr>
          <a:lstStyle/>
          <a:p>
            <a:pPr>
              <a:defRPr sz="1400" b="1">
                <a:solidFill>
                  <a:srgbClr val="0EA5E9"/>
                </a:solidFill>
                <a:latin typeface="Arial"/>
              </a:defRPr>
            </a:pPr>
            <a:r>
              <a:t>ROUTING &amp; QUALITY ASSURANCE</a:t>
            </a:r>
          </a:p>
        </p:txBody>
      </p:sp>
      <p:sp>
        <p:nvSpPr>
          <p:cNvPr id="14" name="TextBox 13"/>
          <p:cNvSpPr txBox="1"/>
          <p:nvPr/>
        </p:nvSpPr>
        <p:spPr>
          <a:xfrm>
            <a:off x="8229600" y="2286000"/>
            <a:ext cx="3017520" cy="3657600"/>
          </a:xfrm>
          <a:prstGeom prst="rect">
            <a:avLst/>
          </a:prstGeom>
          <a:noFill/>
        </p:spPr>
        <p:txBody>
          <a:bodyPr wrap="square">
            <a:spAutoFit/>
          </a:bodyPr>
          <a:lstStyle/>
          <a:p>
            <a:pPr>
              <a:lnSpc>
                <a:spcPct val="115000"/>
              </a:lnSpc>
              <a:spcAft>
                <a:spcPts val="800"/>
              </a:spcAft>
            </a:pPr>
            <a:r>
              <a:rPr sz="1200" b="1">
                <a:solidFill>
                  <a:srgbClr val="FFFFFF"/>
                </a:solidFill>
                <a:latin typeface="Arial"/>
              </a:rPr>
              <a:t>Tor 0.4.8.14: </a:t>
            </a:r>
            <a:r>
              <a:rPr sz="1200">
                <a:solidFill>
                  <a:srgbClr val="94A3B8"/>
                </a:solidFill>
                <a:latin typeface="Arial"/>
              </a:rPr>
              <a:t>Official Tor Expert Bundle binary running natively on Windows x64.</a:t>
            </a:r>
          </a:p>
          <a:p>
            <a:pPr>
              <a:lnSpc>
                <a:spcPct val="115000"/>
              </a:lnSpc>
              <a:spcAft>
                <a:spcPts val="800"/>
              </a:spcAft>
            </a:pPr>
            <a:r>
              <a:rPr sz="1200" b="1">
                <a:solidFill>
                  <a:srgbClr val="FFFFFF"/>
                </a:solidFill>
                <a:latin typeface="Arial"/>
              </a:rPr>
              <a:t>RFC 1928 SOCKS5: </a:t>
            </a:r>
            <a:r>
              <a:rPr sz="1200">
                <a:solidFill>
                  <a:srgbClr val="94A3B8"/>
                </a:solidFill>
                <a:latin typeface="Arial"/>
              </a:rPr>
              <a:t>Remote DNS resolution protocol preventing local DNS leaks.</a:t>
            </a:r>
          </a:p>
          <a:p>
            <a:pPr>
              <a:lnSpc>
                <a:spcPct val="115000"/>
              </a:lnSpc>
              <a:spcAft>
                <a:spcPts val="800"/>
              </a:spcAft>
            </a:pPr>
            <a:r>
              <a:rPr sz="1200" b="1">
                <a:solidFill>
                  <a:srgbClr val="FFFFFF"/>
                </a:solidFill>
                <a:latin typeface="Arial"/>
              </a:rPr>
              <a:t>Pytest 8.2: </a:t>
            </a:r>
            <a:r>
              <a:rPr sz="1200">
                <a:solidFill>
                  <a:srgbClr val="94A3B8"/>
                </a:solidFill>
                <a:latin typeface="Arial"/>
              </a:rPr>
              <a:t>Comprehensive 213-test automated regression suite.</a:t>
            </a:r>
          </a:p>
          <a:p>
            <a:pPr>
              <a:lnSpc>
                <a:spcPct val="115000"/>
              </a:lnSpc>
              <a:spcAft>
                <a:spcPts val="800"/>
              </a:spcAft>
            </a:pPr>
            <a:r>
              <a:rPr sz="1200" b="1">
                <a:solidFill>
                  <a:srgbClr val="FFFFFF"/>
                </a:solidFill>
                <a:latin typeface="Arial"/>
              </a:rPr>
              <a:t>Chrome CDP: </a:t>
            </a:r>
            <a:r>
              <a:rPr sz="1200">
                <a:solidFill>
                  <a:srgbClr val="94A3B8"/>
                </a:solidFill>
                <a:latin typeface="Arial"/>
              </a:rPr>
              <a:t>Headless Chrome DevTools Protocol automation for clean-install verification.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06. SYSTEM MODULES</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Core Modules and Subsystem Responsibilities</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663440" cy="457200"/>
          </a:xfrm>
          <a:prstGeom prst="rect">
            <a:avLst/>
          </a:prstGeom>
          <a:noFill/>
        </p:spPr>
        <p:txBody>
          <a:bodyPr wrap="none">
            <a:spAutoFit/>
          </a:bodyPr>
          <a:lstStyle/>
          <a:p>
            <a:pPr>
              <a:defRPr sz="1400" b="1">
                <a:solidFill>
                  <a:srgbClr val="0EA5E9"/>
                </a:solidFill>
                <a:latin typeface="Arial"/>
              </a:defRPr>
            </a:pPr>
            <a:r>
              <a:t>EXTENSION CONTROLLER MODULES</a:t>
            </a:r>
          </a:p>
        </p:txBody>
      </p:sp>
      <p:sp>
        <p:nvSpPr>
          <p:cNvPr id="8" name="TextBox 7"/>
          <p:cNvSpPr txBox="1"/>
          <p:nvPr/>
        </p:nvSpPr>
        <p:spPr>
          <a:xfrm>
            <a:off x="100584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NetworkController.ts: </a:t>
            </a:r>
            <a:r>
              <a:rPr sz="1300">
                <a:solidFill>
                  <a:srgbClr val="94A3B8"/>
                </a:solidFill>
                <a:latin typeface="Arial"/>
              </a:rPr>
              <a:t>Direct interface to chrome.proxy; handles fixed_servers mode, pre-session snapshot capture, and clean proxy restoration.</a:t>
            </a:r>
          </a:p>
          <a:p>
            <a:pPr>
              <a:lnSpc>
                <a:spcPct val="115000"/>
              </a:lnSpc>
              <a:spcAft>
                <a:spcPts val="800"/>
              </a:spcAft>
            </a:pPr>
            <a:r>
              <a:rPr sz="1300" b="1">
                <a:solidFill>
                  <a:srgbClr val="FFFFFF"/>
                </a:solidFill>
                <a:latin typeface="Arial"/>
              </a:rPr>
              <a:t>PrivacyController.ts: </a:t>
            </a:r>
            <a:r>
              <a:rPr sz="1300">
                <a:solidFill>
                  <a:srgbClr val="94A3B8"/>
                </a:solidFill>
                <a:latin typeface="Arial"/>
              </a:rPr>
              <a:t>Finite state machine managing session lifecycle (DISCONNECTED, CONNECTING, PROTECTED, FAILED, RESTORING).</a:t>
            </a:r>
          </a:p>
          <a:p>
            <a:pPr>
              <a:lnSpc>
                <a:spcPct val="115000"/>
              </a:lnSpc>
              <a:spcAft>
                <a:spcPts val="800"/>
              </a:spcAft>
            </a:pPr>
            <a:r>
              <a:rPr sz="1300" b="1">
                <a:solidFill>
                  <a:srgbClr val="FFFFFF"/>
                </a:solidFill>
                <a:latin typeface="Arial"/>
              </a:rPr>
              <a:t>MessageSecurity.ts: </a:t>
            </a:r>
            <a:r>
              <a:rPr sz="1300">
                <a:solidFill>
                  <a:srgbClr val="94A3B8"/>
                </a:solidFill>
                <a:latin typeface="Arial"/>
              </a:rPr>
              <a:t>Validates message senders; prevents untrusted content scripts from invoking privileged extension commands.</a:t>
            </a:r>
          </a:p>
          <a:p>
            <a:pPr>
              <a:lnSpc>
                <a:spcPct val="115000"/>
              </a:lnSpc>
              <a:spcAft>
                <a:spcPts val="800"/>
              </a:spcAft>
            </a:pPr>
            <a:r>
              <a:rPr sz="1300" b="1">
                <a:solidFill>
                  <a:srgbClr val="FFFFFF"/>
                </a:solidFill>
                <a:latin typeface="Arial"/>
              </a:rPr>
              <a:t>PrivacyEventEngine.ts: </a:t>
            </a:r>
            <a:r>
              <a:rPr sz="1300">
                <a:solidFill>
                  <a:srgbClr val="94A3B8"/>
                </a:solidFill>
                <a:latin typeface="Arial"/>
              </a:rPr>
              <a:t>Buffers, debounces, and sanitizes tracking telemetry, enforcing a 200-event FIFO ceiling in storage.</a:t>
            </a:r>
          </a:p>
        </p:txBody>
      </p:sp>
      <p:sp>
        <p:nvSpPr>
          <p:cNvPr id="9" name="Rounded Rectangle 8"/>
          <p:cNvSpPr/>
          <p:nvPr/>
        </p:nvSpPr>
        <p:spPr>
          <a:xfrm>
            <a:off x="630936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828800"/>
            <a:ext cx="4663440" cy="457200"/>
          </a:xfrm>
          <a:prstGeom prst="rect">
            <a:avLst/>
          </a:prstGeom>
          <a:noFill/>
        </p:spPr>
        <p:txBody>
          <a:bodyPr wrap="none">
            <a:spAutoFit/>
          </a:bodyPr>
          <a:lstStyle/>
          <a:p>
            <a:pPr>
              <a:defRPr sz="1400" b="1">
                <a:solidFill>
                  <a:srgbClr val="0EA5E9"/>
                </a:solidFill>
                <a:latin typeface="Arial"/>
              </a:defRPr>
            </a:pPr>
            <a:r>
              <a:t>AGENT &amp; DEFENSE MODULES</a:t>
            </a:r>
          </a:p>
        </p:txBody>
      </p:sp>
      <p:sp>
        <p:nvSpPr>
          <p:cNvPr id="11" name="TextBox 10"/>
          <p:cNvSpPr txBox="1"/>
          <p:nvPr/>
        </p:nvSpPr>
        <p:spPr>
          <a:xfrm>
            <a:off x="658368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Route_verifier.py: </a:t>
            </a:r>
            <a:r>
              <a:rPr sz="1300">
                <a:solidFill>
                  <a:srgbClr val="94A3B8"/>
                </a:solidFill>
                <a:latin typeface="Arial"/>
              </a:rPr>
              <a:t>Performs out-of-band egress verification; extracts observed IP and verifies exit node consensus.</a:t>
            </a:r>
          </a:p>
          <a:p>
            <a:pPr>
              <a:lnSpc>
                <a:spcPct val="115000"/>
              </a:lnSpc>
              <a:spcAft>
                <a:spcPts val="800"/>
              </a:spcAft>
            </a:pPr>
            <a:r>
              <a:rPr sz="1300" b="1">
                <a:solidFill>
                  <a:srgbClr val="FFFFFF"/>
                </a:solidFill>
                <a:latin typeface="Arial"/>
              </a:rPr>
              <a:t>Detector.py: </a:t>
            </a:r>
            <a:r>
              <a:rPr sz="1300">
                <a:solidFill>
                  <a:srgbClr val="94A3B8"/>
                </a:solidFill>
                <a:latin typeface="Arial"/>
              </a:rPr>
              <a:t>Audits local SOCKS5 (port 9050) and ControlPort (port 9051) bootstrap progression up to 100%.</a:t>
            </a:r>
          </a:p>
          <a:p>
            <a:pPr>
              <a:lnSpc>
                <a:spcPct val="115000"/>
              </a:lnSpc>
              <a:spcAft>
                <a:spcPts val="800"/>
              </a:spcAft>
            </a:pPr>
            <a:r>
              <a:rPr sz="1300" b="1">
                <a:solidFill>
                  <a:srgbClr val="FFFFFF"/>
                </a:solidFill>
                <a:latin typeface="Arial"/>
              </a:rPr>
              <a:t>InjectGuard.js: </a:t>
            </a:r>
            <a:r>
              <a:rPr sz="1300">
                <a:solidFill>
                  <a:srgbClr val="94A3B8"/>
                </a:solidFill>
                <a:latin typeface="Arial"/>
              </a:rPr>
              <a:t>Injected DOM content script; introduces imperceptible RGB micro-noise to HTML5 canvas and WebGL buffers.</a:t>
            </a:r>
          </a:p>
          <a:p>
            <a:pPr>
              <a:lnSpc>
                <a:spcPct val="115000"/>
              </a:lnSpc>
              <a:spcAft>
                <a:spcPts val="800"/>
              </a:spcAft>
            </a:pPr>
            <a:r>
              <a:rPr sz="1300" b="1">
                <a:solidFill>
                  <a:srgbClr val="FFFFFF"/>
                </a:solidFill>
                <a:latin typeface="Arial"/>
              </a:rPr>
              <a:t>RiskEngine.ts: </a:t>
            </a:r>
            <a:r>
              <a:rPr sz="1300">
                <a:solidFill>
                  <a:srgbClr val="94A3B8"/>
                </a:solidFill>
                <a:latin typeface="Arial"/>
              </a:rPr>
              <a:t>Computes dynamic 0–100 privacy risk score using weighted, capped telemetry categories.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07. OPERATIONAL WORKFLOW</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The 10-Step Protected Startup Lifecycle</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728655"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271455" cy="457200"/>
          </a:xfrm>
          <a:prstGeom prst="rect">
            <a:avLst/>
          </a:prstGeom>
          <a:noFill/>
        </p:spPr>
        <p:txBody>
          <a:bodyPr wrap="none">
            <a:spAutoFit/>
          </a:bodyPr>
          <a:lstStyle/>
          <a:p>
            <a:pPr>
              <a:defRPr sz="1400" b="1">
                <a:solidFill>
                  <a:srgbClr val="0EA5E9"/>
                </a:solidFill>
                <a:latin typeface="Arial"/>
              </a:defRPr>
            </a:pPr>
            <a:r>
              <a:t>FAIL-CLOSED STARTUP VERIFICATION SEQUENCE</a:t>
            </a:r>
          </a:p>
        </p:txBody>
      </p:sp>
      <p:sp>
        <p:nvSpPr>
          <p:cNvPr id="8" name="TextBox 7"/>
          <p:cNvSpPr txBox="1"/>
          <p:nvPr/>
        </p:nvSpPr>
        <p:spPr>
          <a:xfrm>
            <a:off x="1097280" y="2194560"/>
            <a:ext cx="10058400" cy="3840480"/>
          </a:xfrm>
          <a:prstGeom prst="rect">
            <a:avLst/>
          </a:prstGeom>
          <a:noFill/>
        </p:spPr>
        <p:txBody>
          <a:bodyPr wrap="square">
            <a:spAutoFit/>
          </a:bodyPr>
          <a:lstStyle/>
          <a:p>
            <a:pPr>
              <a:lnSpc>
                <a:spcPct val="115000"/>
              </a:lnSpc>
              <a:spcAft>
                <a:spcPts val="800"/>
              </a:spcAft>
            </a:pPr>
            <a:r>
              <a:rPr sz="1200" b="1">
                <a:solidFill>
                  <a:srgbClr val="FFFFFF"/>
                </a:solidFill>
                <a:latin typeface="Arial"/>
              </a:rPr>
              <a:t>1. Token Validation: </a:t>
            </a:r>
            <a:r>
              <a:rPr sz="1200">
                <a:solidFill>
                  <a:srgbClr val="94A3B8"/>
                </a:solidFill>
                <a:latin typeface="Arial"/>
              </a:rPr>
              <a:t>Extension reads local authentication secret; aborts immediately if unauthorized.</a:t>
            </a:r>
          </a:p>
          <a:p>
            <a:pPr>
              <a:lnSpc>
                <a:spcPct val="115000"/>
              </a:lnSpc>
              <a:spcAft>
                <a:spcPts val="800"/>
              </a:spcAft>
            </a:pPr>
            <a:r>
              <a:rPr sz="1200" b="1">
                <a:solidFill>
                  <a:srgbClr val="FFFFFF"/>
                </a:solidFill>
                <a:latin typeface="Arial"/>
              </a:rPr>
              <a:t>2. Agent Health Audit: </a:t>
            </a:r>
            <a:r>
              <a:rPr sz="1200">
                <a:solidFill>
                  <a:srgbClr val="94A3B8"/>
                </a:solidFill>
                <a:latin typeface="Arial"/>
              </a:rPr>
              <a:t>GET /api/v1/status confirms companion daemon is running on 127.0.0.1:9152.</a:t>
            </a:r>
          </a:p>
          <a:p>
            <a:pPr>
              <a:lnSpc>
                <a:spcPct val="115000"/>
              </a:lnSpc>
              <a:spcAft>
                <a:spcPts val="800"/>
              </a:spcAft>
            </a:pPr>
            <a:r>
              <a:rPr sz="1200" b="1">
                <a:solidFill>
                  <a:srgbClr val="FFFFFF"/>
                </a:solidFill>
                <a:latin typeface="Arial"/>
              </a:rPr>
              <a:t>3. SOCKS5 RFC 1928 Probe: </a:t>
            </a:r>
            <a:r>
              <a:rPr sz="1200">
                <a:solidFill>
                  <a:srgbClr val="94A3B8"/>
                </a:solidFill>
                <a:latin typeface="Arial"/>
              </a:rPr>
              <a:t>Agent verifies Tor SOCKS5 daemon is listening on port 9050 with valid greeting (0x05 0x00).</a:t>
            </a:r>
          </a:p>
          <a:p>
            <a:pPr>
              <a:lnSpc>
                <a:spcPct val="115000"/>
              </a:lnSpc>
              <a:spcAft>
                <a:spcPts val="800"/>
              </a:spcAft>
            </a:pPr>
            <a:r>
              <a:rPr sz="1200" b="1">
                <a:solidFill>
                  <a:srgbClr val="FFFFFF"/>
                </a:solidFill>
                <a:latin typeface="Arial"/>
              </a:rPr>
              <a:t>4. ControlPort Bootstrap Audit: </a:t>
            </a:r>
            <a:r>
              <a:rPr sz="1200">
                <a:solidFill>
                  <a:srgbClr val="94A3B8"/>
                </a:solidFill>
                <a:latin typeface="Arial"/>
              </a:rPr>
              <a:t>Agent verifies Tor circuit bootstrap has reached 100% completion.</a:t>
            </a:r>
          </a:p>
          <a:p>
            <a:pPr>
              <a:lnSpc>
                <a:spcPct val="115000"/>
              </a:lnSpc>
              <a:spcAft>
                <a:spcPts val="800"/>
              </a:spcAft>
            </a:pPr>
            <a:r>
              <a:rPr sz="1200" b="1">
                <a:solidFill>
                  <a:srgbClr val="FFFFFF"/>
                </a:solidFill>
                <a:latin typeface="Arial"/>
              </a:rPr>
              <a:t>5. Pre-Session Proxy Snapshot: </a:t>
            </a:r>
            <a:r>
              <a:rPr sz="1200">
                <a:solidFill>
                  <a:srgbClr val="94A3B8"/>
                </a:solidFill>
                <a:latin typeface="Arial"/>
              </a:rPr>
              <a:t>Extension records user's baseline proxy configuration (e.g., 'system' or 'direct').</a:t>
            </a:r>
          </a:p>
          <a:p>
            <a:pPr>
              <a:lnSpc>
                <a:spcPct val="115000"/>
              </a:lnSpc>
              <a:spcAft>
                <a:spcPts val="800"/>
              </a:spcAft>
            </a:pPr>
            <a:r>
              <a:rPr sz="1200" b="1">
                <a:solidFill>
                  <a:srgbClr val="FFFFFF"/>
                </a:solidFill>
                <a:latin typeface="Arial"/>
              </a:rPr>
              <a:t>6. SOCKS5 Proxy Activation: </a:t>
            </a:r>
            <a:r>
              <a:rPr sz="1200">
                <a:solidFill>
                  <a:srgbClr val="94A3B8"/>
                </a:solidFill>
                <a:latin typeface="Arial"/>
              </a:rPr>
              <a:t>Extension configures Chromium proxy to fixed_servers socks5://127.0.0.1:9050.</a:t>
            </a:r>
          </a:p>
          <a:p>
            <a:pPr>
              <a:lnSpc>
                <a:spcPct val="115000"/>
              </a:lnSpc>
              <a:spcAft>
                <a:spcPts val="800"/>
              </a:spcAft>
            </a:pPr>
            <a:r>
              <a:rPr sz="1200" b="1">
                <a:solidFill>
                  <a:srgbClr val="FFFFFF"/>
                </a:solidFill>
                <a:latin typeface="Arial"/>
              </a:rPr>
              <a:t>7. WebRTC Leak Protection: </a:t>
            </a:r>
            <a:r>
              <a:rPr sz="1200">
                <a:solidFill>
                  <a:srgbClr val="94A3B8"/>
                </a:solidFill>
                <a:latin typeface="Arial"/>
              </a:rPr>
              <a:t>Sets webRTCIPHandlingPolicy to 'disable_non_proxied_udp' to prevent STUN/TURN IP leaks.</a:t>
            </a:r>
          </a:p>
          <a:p>
            <a:pPr>
              <a:lnSpc>
                <a:spcPct val="115000"/>
              </a:lnSpc>
              <a:spcAft>
                <a:spcPts val="800"/>
              </a:spcAft>
            </a:pPr>
            <a:r>
              <a:rPr sz="1200" b="1">
                <a:solidFill>
                  <a:srgbClr val="FFFFFF"/>
                </a:solidFill>
                <a:latin typeface="Arial"/>
              </a:rPr>
              <a:t>8. Out-of-Band Exit Verification: </a:t>
            </a:r>
            <a:r>
              <a:rPr sz="1200">
                <a:solidFill>
                  <a:srgbClr val="94A3B8"/>
                </a:solidFill>
                <a:latin typeface="Arial"/>
              </a:rPr>
              <a:t>Agent queries check.torproject.org over SOCKS5; verifies IsTor == true.</a:t>
            </a:r>
          </a:p>
          <a:p>
            <a:pPr>
              <a:lnSpc>
                <a:spcPct val="115000"/>
              </a:lnSpc>
              <a:spcAft>
                <a:spcPts val="800"/>
              </a:spcAft>
            </a:pPr>
            <a:r>
              <a:rPr sz="1200" b="1">
                <a:solidFill>
                  <a:srgbClr val="FFFFFF"/>
                </a:solidFill>
                <a:latin typeface="Arial"/>
              </a:rPr>
              <a:t>9. Direct IP Discrepancy: </a:t>
            </a:r>
            <a:r>
              <a:rPr sz="1200">
                <a:solidFill>
                  <a:srgbClr val="94A3B8"/>
                </a:solidFill>
                <a:latin typeface="Arial"/>
              </a:rPr>
              <a:t>Confirmed observed egress IP differs from pre-recorded direct baseline IP.</a:t>
            </a:r>
          </a:p>
          <a:p>
            <a:pPr>
              <a:lnSpc>
                <a:spcPct val="115000"/>
              </a:lnSpc>
              <a:spcAft>
                <a:spcPts val="800"/>
              </a:spcAft>
            </a:pPr>
            <a:r>
              <a:rPr sz="1200" b="1">
                <a:solidFill>
                  <a:srgbClr val="FFFFFF"/>
                </a:solidFill>
                <a:latin typeface="Arial"/>
              </a:rPr>
              <a:t>10. State Promoted to PROTECTED: </a:t>
            </a:r>
            <a:r>
              <a:rPr sz="1200">
                <a:solidFill>
                  <a:srgbClr val="94A3B8"/>
                </a:solidFill>
                <a:latin typeface="Arial"/>
              </a:rPr>
              <a:t>Session state promoted to PROTECTED; emerald badge illuminates in UI.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08. RESILIENCE &amp; INTEGRITY</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Route Verification and Fail-Closed Kill Switch</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663440" cy="457200"/>
          </a:xfrm>
          <a:prstGeom prst="rect">
            <a:avLst/>
          </a:prstGeom>
          <a:noFill/>
        </p:spPr>
        <p:txBody>
          <a:bodyPr wrap="none">
            <a:spAutoFit/>
          </a:bodyPr>
          <a:lstStyle/>
          <a:p>
            <a:pPr>
              <a:defRPr sz="1400" b="1">
                <a:solidFill>
                  <a:srgbClr val="0EA5E9"/>
                </a:solidFill>
                <a:latin typeface="Arial"/>
              </a:defRPr>
            </a:pPr>
            <a:r>
              <a:t>OUT-OF-BAND ROUTE VERIFICATION</a:t>
            </a:r>
          </a:p>
        </p:txBody>
      </p:sp>
      <p:sp>
        <p:nvSpPr>
          <p:cNvPr id="8" name="TextBox 7"/>
          <p:cNvSpPr txBox="1"/>
          <p:nvPr/>
        </p:nvSpPr>
        <p:spPr>
          <a:xfrm>
            <a:off x="100584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Independent Egress Query: </a:t>
            </a:r>
            <a:r>
              <a:rPr sz="1300">
                <a:solidFill>
                  <a:srgbClr val="94A3B8"/>
                </a:solidFill>
                <a:latin typeface="Arial"/>
              </a:rPr>
              <a:t>The local agent queries https://check.torproject.org/api/ip over SOCKS5 with remote DNS resolution enabled (rdns=True).</a:t>
            </a:r>
          </a:p>
          <a:p>
            <a:pPr>
              <a:lnSpc>
                <a:spcPct val="115000"/>
              </a:lnSpc>
              <a:spcAft>
                <a:spcPts val="800"/>
              </a:spcAft>
            </a:pPr>
            <a:r>
              <a:rPr sz="1300" b="1">
                <a:solidFill>
                  <a:srgbClr val="FFFFFF"/>
                </a:solidFill>
                <a:latin typeface="Arial"/>
              </a:rPr>
              <a:t>Cryptographic Consensus: </a:t>
            </a:r>
            <a:r>
              <a:rPr sz="1300">
                <a:solidFill>
                  <a:srgbClr val="94A3B8"/>
                </a:solidFill>
                <a:latin typeface="Arial"/>
              </a:rPr>
              <a:t>Tor Project directory authorities confirm whether the observed IP address is an active, verified relay exit node.</a:t>
            </a:r>
          </a:p>
          <a:p>
            <a:pPr>
              <a:lnSpc>
                <a:spcPct val="115000"/>
              </a:lnSpc>
              <a:spcAft>
                <a:spcPts val="800"/>
              </a:spcAft>
            </a:pPr>
            <a:r>
              <a:rPr sz="1300" b="1">
                <a:solidFill>
                  <a:srgbClr val="FFFFFF"/>
                </a:solidFill>
                <a:latin typeface="Arial"/>
              </a:rPr>
              <a:t>Baseline Discrepancy Assertion: </a:t>
            </a:r>
            <a:r>
              <a:rPr sz="1300">
                <a:solidFill>
                  <a:srgbClr val="94A3B8"/>
                </a:solidFill>
                <a:latin typeface="Arial"/>
              </a:rPr>
              <a:t>Direct baseline IP (e.g., 210.16.95.248) is compared against egress IP (e.g., 193.189.100.203).</a:t>
            </a:r>
          </a:p>
          <a:p>
            <a:pPr>
              <a:lnSpc>
                <a:spcPct val="115000"/>
              </a:lnSpc>
              <a:spcAft>
                <a:spcPts val="800"/>
              </a:spcAft>
            </a:pPr>
            <a:r>
              <a:rPr sz="1300" b="1">
                <a:solidFill>
                  <a:srgbClr val="FFFFFF"/>
                </a:solidFill>
                <a:latin typeface="Arial"/>
              </a:rPr>
              <a:t>Evidence Level Classification: </a:t>
            </a:r>
            <a:r>
              <a:rPr sz="1300">
                <a:solidFill>
                  <a:srgbClr val="94A3B8"/>
                </a:solidFill>
                <a:latin typeface="Arial"/>
              </a:rPr>
              <a:t>Classified as HIGH evidence; eliminates false assumptions of privacy.</a:t>
            </a:r>
          </a:p>
        </p:txBody>
      </p:sp>
      <p:sp>
        <p:nvSpPr>
          <p:cNvPr id="9" name="Rounded Rectangle 8"/>
          <p:cNvSpPr/>
          <p:nvPr/>
        </p:nvSpPr>
        <p:spPr>
          <a:xfrm>
            <a:off x="630936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828800"/>
            <a:ext cx="4663440" cy="457200"/>
          </a:xfrm>
          <a:prstGeom prst="rect">
            <a:avLst/>
          </a:prstGeom>
          <a:noFill/>
        </p:spPr>
        <p:txBody>
          <a:bodyPr wrap="none">
            <a:spAutoFit/>
          </a:bodyPr>
          <a:lstStyle/>
          <a:p>
            <a:pPr>
              <a:defRPr sz="1400" b="1">
                <a:solidFill>
                  <a:srgbClr val="0EA5E9"/>
                </a:solidFill>
                <a:latin typeface="Arial"/>
              </a:defRPr>
            </a:pPr>
            <a:r>
              <a:t>FAIL-CLOSED KILL SWITCH</a:t>
            </a:r>
          </a:p>
        </p:txBody>
      </p:sp>
      <p:sp>
        <p:nvSpPr>
          <p:cNvPr id="11" name="TextBox 10"/>
          <p:cNvSpPr txBox="1"/>
          <p:nvPr/>
        </p:nvSpPr>
        <p:spPr>
          <a:xfrm>
            <a:off x="658368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Heartbeat Polling: </a:t>
            </a:r>
            <a:r>
              <a:rPr sz="1300">
                <a:solidFill>
                  <a:srgbClr val="94A3B8"/>
                </a:solidFill>
                <a:latin typeface="Arial"/>
              </a:rPr>
              <a:t>Background worker polls agent health every 5000ms during active sessions.</a:t>
            </a:r>
          </a:p>
          <a:p>
            <a:pPr>
              <a:lnSpc>
                <a:spcPct val="115000"/>
              </a:lnSpc>
              <a:spcAft>
                <a:spcPts val="800"/>
              </a:spcAft>
            </a:pPr>
            <a:r>
              <a:rPr sz="1300" b="1">
                <a:solidFill>
                  <a:srgbClr val="FFFFFF"/>
                </a:solidFill>
                <a:latin typeface="Arial"/>
              </a:rPr>
              <a:t>Instant Circuit Drop Detection: </a:t>
            </a:r>
            <a:r>
              <a:rPr sz="1300">
                <a:solidFill>
                  <a:srgbClr val="94A3B8"/>
                </a:solidFill>
                <a:latin typeface="Arial"/>
              </a:rPr>
              <a:t>If Tor terminates or crashes, session immediately transitions to FAILED.</a:t>
            </a:r>
          </a:p>
          <a:p>
            <a:pPr>
              <a:lnSpc>
                <a:spcPct val="115000"/>
              </a:lnSpc>
              <a:spcAft>
                <a:spcPts val="800"/>
              </a:spcAft>
            </a:pPr>
            <a:r>
              <a:rPr sz="1300" b="1">
                <a:solidFill>
                  <a:srgbClr val="FFFFFF"/>
                </a:solidFill>
                <a:latin typeface="Arial"/>
              </a:rPr>
              <a:t>Discard Blackhole Proxy: </a:t>
            </a:r>
            <a:r>
              <a:rPr sz="1300">
                <a:solidFill>
                  <a:srgbClr val="94A3B8"/>
                </a:solidFill>
                <a:latin typeface="Arial"/>
              </a:rPr>
              <a:t>Chromium proxy is instantly set to 127.0.0.1:9 (standard discard port).</a:t>
            </a:r>
          </a:p>
          <a:p>
            <a:pPr>
              <a:lnSpc>
                <a:spcPct val="115000"/>
              </a:lnSpc>
              <a:spcAft>
                <a:spcPts val="800"/>
              </a:spcAft>
            </a:pPr>
            <a:r>
              <a:rPr sz="1300" b="1">
                <a:solidFill>
                  <a:srgbClr val="FFFFFF"/>
                </a:solidFill>
                <a:latin typeface="Arial"/>
              </a:rPr>
              <a:t>Zero Direct Bypass Leak: </a:t>
            </a:r>
            <a:r>
              <a:rPr sz="1300">
                <a:solidFill>
                  <a:srgbClr val="94A3B8"/>
                </a:solidFill>
                <a:latin typeface="Arial"/>
              </a:rPr>
              <a:t>Outbound requests fail with ERR_PROXY_CONNECTION_FAILED, completely preventing direct unmasked IP leaks.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09. APPLICATION PRIVACY</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In-Page DOM Fingerprinting Defenses</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663440" cy="457200"/>
          </a:xfrm>
          <a:prstGeom prst="rect">
            <a:avLst/>
          </a:prstGeom>
          <a:noFill/>
        </p:spPr>
        <p:txBody>
          <a:bodyPr wrap="none">
            <a:spAutoFit/>
          </a:bodyPr>
          <a:lstStyle/>
          <a:p>
            <a:pPr>
              <a:defRPr sz="1400" b="1">
                <a:solidFill>
                  <a:srgbClr val="0EA5E9"/>
                </a:solidFill>
                <a:latin typeface="Arial"/>
              </a:defRPr>
            </a:pPr>
            <a:r>
              <a:t>CANVAS &amp; WEBGL NOISE INJECTION</a:t>
            </a:r>
          </a:p>
        </p:txBody>
      </p:sp>
      <p:sp>
        <p:nvSpPr>
          <p:cNvPr id="8" name="TextBox 7"/>
          <p:cNvSpPr txBox="1"/>
          <p:nvPr/>
        </p:nvSpPr>
        <p:spPr>
          <a:xfrm>
            <a:off x="100584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HTML5 Canvas Protection: </a:t>
            </a:r>
            <a:r>
              <a:rPr sz="1300">
                <a:solidFill>
                  <a:srgbClr val="94A3B8"/>
                </a:solidFill>
                <a:latin typeface="Arial"/>
              </a:rPr>
              <a:t>Monkeys-patches HTMLCanvasElement.toDataURL and CanvasRenderingContext2D.getImageData.</a:t>
            </a:r>
          </a:p>
          <a:p>
            <a:pPr>
              <a:lnSpc>
                <a:spcPct val="115000"/>
              </a:lnSpc>
              <a:spcAft>
                <a:spcPts val="800"/>
              </a:spcAft>
            </a:pPr>
            <a:r>
              <a:rPr sz="1300" b="1">
                <a:solidFill>
                  <a:srgbClr val="FFFFFF"/>
                </a:solidFill>
                <a:latin typeface="Arial"/>
              </a:rPr>
              <a:t>Subtle Micro-Noise Injection: </a:t>
            </a:r>
            <a:r>
              <a:rPr sz="1300">
                <a:solidFill>
                  <a:srgbClr val="94A3B8"/>
                </a:solidFill>
                <a:latin typeface="Arial"/>
              </a:rPr>
              <a:t>Modifies low-order RGB bits by an imperceptible factor (+/- 1-2 color values).</a:t>
            </a:r>
          </a:p>
          <a:p>
            <a:pPr>
              <a:lnSpc>
                <a:spcPct val="115000"/>
              </a:lnSpc>
              <a:spcAft>
                <a:spcPts val="800"/>
              </a:spcAft>
            </a:pPr>
            <a:r>
              <a:rPr sz="1300" b="1">
                <a:solidFill>
                  <a:srgbClr val="FFFFFF"/>
                </a:solidFill>
                <a:latin typeface="Arial"/>
              </a:rPr>
              <a:t>Spoiled Hash Consistency: </a:t>
            </a:r>
            <a:r>
              <a:rPr sz="1300">
                <a:solidFill>
                  <a:srgbClr val="94A3B8"/>
                </a:solidFill>
                <a:latin typeface="Arial"/>
              </a:rPr>
              <a:t>Every canvas fingerprint calculation produces a different SHA-256 hash across domains, preventing cross-site correlation.</a:t>
            </a:r>
          </a:p>
          <a:p>
            <a:pPr>
              <a:lnSpc>
                <a:spcPct val="115000"/>
              </a:lnSpc>
              <a:spcAft>
                <a:spcPts val="800"/>
              </a:spcAft>
            </a:pPr>
            <a:r>
              <a:rPr sz="1300" b="1">
                <a:solidFill>
                  <a:srgbClr val="FFFFFF"/>
                </a:solidFill>
                <a:latin typeface="Arial"/>
              </a:rPr>
              <a:t>Preserved User Experience: </a:t>
            </a:r>
            <a:r>
              <a:rPr sz="1300">
                <a:solidFill>
                  <a:srgbClr val="94A3B8"/>
                </a:solidFill>
                <a:latin typeface="Arial"/>
              </a:rPr>
              <a:t>Images, graphics, and web games render with 100% visual fidelity without artifacting.</a:t>
            </a:r>
          </a:p>
        </p:txBody>
      </p:sp>
      <p:sp>
        <p:nvSpPr>
          <p:cNvPr id="9" name="Rounded Rectangle 8"/>
          <p:cNvSpPr/>
          <p:nvPr/>
        </p:nvSpPr>
        <p:spPr>
          <a:xfrm>
            <a:off x="630936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828800"/>
            <a:ext cx="4663440" cy="457200"/>
          </a:xfrm>
          <a:prstGeom prst="rect">
            <a:avLst/>
          </a:prstGeom>
          <a:noFill/>
        </p:spPr>
        <p:txBody>
          <a:bodyPr wrap="none">
            <a:spAutoFit/>
          </a:bodyPr>
          <a:lstStyle/>
          <a:p>
            <a:pPr>
              <a:defRPr sz="1400" b="1">
                <a:solidFill>
                  <a:srgbClr val="0EA5E9"/>
                </a:solidFill>
                <a:latin typeface="Arial"/>
              </a:defRPr>
            </a:pPr>
            <a:r>
              <a:t>TRACKING PARAMETER STRIPPING</a:t>
            </a:r>
          </a:p>
        </p:txBody>
      </p:sp>
      <p:sp>
        <p:nvSpPr>
          <p:cNvPr id="11" name="TextBox 10"/>
          <p:cNvSpPr txBox="1"/>
          <p:nvPr/>
        </p:nvSpPr>
        <p:spPr>
          <a:xfrm>
            <a:off x="658368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Link Decoration Defense: </a:t>
            </a:r>
            <a:r>
              <a:rPr sz="1300">
                <a:solidFill>
                  <a:srgbClr val="94A3B8"/>
                </a:solidFill>
                <a:latin typeface="Arial"/>
              </a:rPr>
              <a:t>Strips invasive tracking parameters appended to URLs upon navigation.</a:t>
            </a:r>
          </a:p>
          <a:p>
            <a:pPr>
              <a:lnSpc>
                <a:spcPct val="115000"/>
              </a:lnSpc>
              <a:spcAft>
                <a:spcPts val="800"/>
              </a:spcAft>
            </a:pPr>
            <a:r>
              <a:rPr sz="1300" b="1">
                <a:solidFill>
                  <a:srgbClr val="FFFFFF"/>
                </a:solidFill>
                <a:latin typeface="Arial"/>
              </a:rPr>
              <a:t>Stripped Query Keys: </a:t>
            </a:r>
            <a:r>
              <a:rPr sz="1300">
                <a:solidFill>
                  <a:srgbClr val="94A3B8"/>
                </a:solidFill>
                <a:latin typeface="Arial"/>
              </a:rPr>
              <a:t>Removes gclid, fbclid, msclkid, utm_source, utm_medium, utm_campaign, and dclid.</a:t>
            </a:r>
          </a:p>
          <a:p>
            <a:pPr>
              <a:lnSpc>
                <a:spcPct val="115000"/>
              </a:lnSpc>
              <a:spcAft>
                <a:spcPts val="800"/>
              </a:spcAft>
            </a:pPr>
            <a:r>
              <a:rPr sz="1300" b="1">
                <a:solidFill>
                  <a:srgbClr val="FFFFFF"/>
                </a:solidFill>
                <a:latin typeface="Arial"/>
              </a:rPr>
              <a:t>Sanitized Origin Logging: </a:t>
            </a:r>
            <a:r>
              <a:rPr sz="1300">
                <a:solidFill>
                  <a:srgbClr val="94A3B8"/>
                </a:solidFill>
                <a:latin typeface="Arial"/>
              </a:rPr>
              <a:t>Privacy event engine records only hostnames (e.g., https://example.com), stripping paths and search queries.</a:t>
            </a:r>
          </a:p>
          <a:p>
            <a:pPr>
              <a:lnSpc>
                <a:spcPct val="115000"/>
              </a:lnSpc>
              <a:spcAft>
                <a:spcPts val="800"/>
              </a:spcAft>
            </a:pPr>
            <a:r>
              <a:rPr sz="1300" b="1">
                <a:solidFill>
                  <a:srgbClr val="FFFFFF"/>
                </a:solidFill>
                <a:latin typeface="Arial"/>
              </a:rPr>
              <a:t>Local Storage Containment: </a:t>
            </a:r>
            <a:r>
              <a:rPr sz="1300">
                <a:solidFill>
                  <a:srgbClr val="94A3B8"/>
                </a:solidFill>
                <a:latin typeface="Arial"/>
              </a:rPr>
              <a:t>Telemetry is kept strictly in local Chrome storage; zero cloud telemetry emitted.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10. APPLICATION VIEWS</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User Interface and Visual Artifacts</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_popup.png"/>
          <p:cNvPicPr>
            <a:picLocks noChangeAspect="1"/>
          </p:cNvPicPr>
          <p:nvPr/>
        </p:nvPicPr>
        <p:blipFill>
          <a:blip r:embed="rId2"/>
          <a:stretch>
            <a:fillRect/>
          </a:stretch>
        </p:blipFill>
        <p:spPr>
          <a:xfrm>
            <a:off x="1097280" y="1645920"/>
            <a:ext cx="3218688" cy="4389120"/>
          </a:xfrm>
          <a:prstGeom prst="rect">
            <a:avLst/>
          </a:prstGeom>
        </p:spPr>
      </p:pic>
      <p:pic>
        <p:nvPicPr>
          <p:cNvPr id="7" name="Picture 6" descr="screenshot_sidepanel_status.png"/>
          <p:cNvPicPr>
            <a:picLocks noChangeAspect="1"/>
          </p:cNvPicPr>
          <p:nvPr/>
        </p:nvPicPr>
        <p:blipFill>
          <a:blip r:embed="rId3"/>
          <a:stretch>
            <a:fillRect/>
          </a:stretch>
        </p:blipFill>
        <p:spPr>
          <a:xfrm>
            <a:off x="5303520" y="1645920"/>
            <a:ext cx="2809037" cy="4389120"/>
          </a:xfrm>
          <a:prstGeom prst="rect">
            <a:avLst/>
          </a:prstGeom>
        </p:spPr>
      </p:pic>
      <p:sp>
        <p:nvSpPr>
          <p:cNvPr id="8" name="Rounded Rectangle 7"/>
          <p:cNvSpPr/>
          <p:nvPr/>
        </p:nvSpPr>
        <p:spPr>
          <a:xfrm>
            <a:off x="8778240" y="1645920"/>
            <a:ext cx="2743200" cy="438912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06840" y="1828800"/>
            <a:ext cx="2286000" cy="457200"/>
          </a:xfrm>
          <a:prstGeom prst="rect">
            <a:avLst/>
          </a:prstGeom>
          <a:noFill/>
        </p:spPr>
        <p:txBody>
          <a:bodyPr wrap="none">
            <a:spAutoFit/>
          </a:bodyPr>
          <a:lstStyle/>
          <a:p>
            <a:pPr>
              <a:defRPr sz="1400" b="1">
                <a:solidFill>
                  <a:srgbClr val="0EA5E9"/>
                </a:solidFill>
                <a:latin typeface="Arial"/>
              </a:defRPr>
            </a:pPr>
            <a:r>
              <a:t>UI DESIGN SYSTEM</a:t>
            </a:r>
          </a:p>
        </p:txBody>
      </p:sp>
      <p:sp>
        <p:nvSpPr>
          <p:cNvPr id="10" name="TextBox 9"/>
          <p:cNvSpPr txBox="1"/>
          <p:nvPr/>
        </p:nvSpPr>
        <p:spPr>
          <a:xfrm>
            <a:off x="8961120" y="2286000"/>
            <a:ext cx="2377440" cy="3474720"/>
          </a:xfrm>
          <a:prstGeom prst="rect">
            <a:avLst/>
          </a:prstGeom>
          <a:noFill/>
        </p:spPr>
        <p:txBody>
          <a:bodyPr wrap="square">
            <a:spAutoFit/>
          </a:bodyPr>
          <a:lstStyle/>
          <a:p>
            <a:pPr>
              <a:lnSpc>
                <a:spcPct val="115000"/>
              </a:lnSpc>
              <a:spcAft>
                <a:spcPts val="800"/>
              </a:spcAft>
            </a:pPr>
            <a:r>
              <a:rPr sz="1100" b="1">
                <a:solidFill>
                  <a:srgbClr val="FFFFFF"/>
                </a:solidFill>
                <a:latin typeface="Arial"/>
              </a:rPr>
              <a:t>Sleek Dark Theme: </a:t>
            </a:r>
            <a:r>
              <a:rPr sz="1100">
                <a:solidFill>
                  <a:srgbClr val="94A3B8"/>
                </a:solidFill>
                <a:latin typeface="Arial"/>
              </a:rPr>
              <a:t>High-contrast slate &amp; indigo aesthetic.</a:t>
            </a:r>
          </a:p>
          <a:p>
            <a:pPr>
              <a:lnSpc>
                <a:spcPct val="115000"/>
              </a:lnSpc>
              <a:spcAft>
                <a:spcPts val="800"/>
              </a:spcAft>
            </a:pPr>
            <a:r>
              <a:rPr sz="1100" b="1">
                <a:solidFill>
                  <a:srgbClr val="FFFFFF"/>
                </a:solidFill>
                <a:latin typeface="Arial"/>
              </a:rPr>
              <a:t>Real-Time Telemetry: </a:t>
            </a:r>
            <a:r>
              <a:rPr sz="1100">
                <a:solidFill>
                  <a:srgbClr val="94A3B8"/>
                </a:solidFill>
                <a:latin typeface="Arial"/>
              </a:rPr>
              <a:t>Dynamic health badges for Agent and Tor.</a:t>
            </a:r>
          </a:p>
          <a:p>
            <a:pPr>
              <a:lnSpc>
                <a:spcPct val="115000"/>
              </a:lnSpc>
              <a:spcAft>
                <a:spcPts val="800"/>
              </a:spcAft>
            </a:pPr>
            <a:r>
              <a:rPr sz="1100" b="1">
                <a:solidFill>
                  <a:srgbClr val="FFFFFF"/>
                </a:solidFill>
                <a:latin typeface="Arial"/>
              </a:rPr>
              <a:t>4-Way Companion Grid: </a:t>
            </a:r>
            <a:r>
              <a:rPr sz="1100">
                <a:solidFill>
                  <a:srgbClr val="94A3B8"/>
                </a:solidFill>
                <a:latin typeface="Arial"/>
              </a:rPr>
              <a:t>Deep-linking between Popup and SidePanel.</a:t>
            </a:r>
          </a:p>
          <a:p>
            <a:pPr>
              <a:lnSpc>
                <a:spcPct val="115000"/>
              </a:lnSpc>
              <a:spcAft>
                <a:spcPts val="800"/>
              </a:spcAft>
            </a:pPr>
            <a:r>
              <a:rPr sz="1100" b="1">
                <a:solidFill>
                  <a:srgbClr val="FFFFFF"/>
                </a:solidFill>
                <a:latin typeface="Arial"/>
              </a:rPr>
              <a:t>WCAG Accessibility: </a:t>
            </a:r>
            <a:r>
              <a:rPr sz="1100">
                <a:solidFill>
                  <a:srgbClr val="94A3B8"/>
                </a:solidFill>
                <a:latin typeface="Arial"/>
              </a:rPr>
              <a:t>ARIA attributes and keyboard focus rings.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11. VERIFICATION METHODOLOGY</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Comprehensive Testing and Quality Assurance</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663440" cy="457200"/>
          </a:xfrm>
          <a:prstGeom prst="rect">
            <a:avLst/>
          </a:prstGeom>
          <a:noFill/>
        </p:spPr>
        <p:txBody>
          <a:bodyPr wrap="none">
            <a:spAutoFit/>
          </a:bodyPr>
          <a:lstStyle/>
          <a:p>
            <a:pPr>
              <a:defRPr sz="1400" b="1">
                <a:solidFill>
                  <a:srgbClr val="0EA5E9"/>
                </a:solidFill>
                <a:latin typeface="Arial"/>
              </a:defRPr>
            </a:pPr>
            <a:r>
              <a:t>213-TEST AUTOMATED PYTEST SUITE</a:t>
            </a:r>
          </a:p>
        </p:txBody>
      </p:sp>
      <p:sp>
        <p:nvSpPr>
          <p:cNvPr id="8" name="TextBox 7"/>
          <p:cNvSpPr txBox="1"/>
          <p:nvPr/>
        </p:nvSpPr>
        <p:spPr>
          <a:xfrm>
            <a:off x="100584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100% Passing Regression Suite: </a:t>
            </a:r>
            <a:r>
              <a:rPr sz="1300">
                <a:solidFill>
                  <a:srgbClr val="94A3B8"/>
                </a:solidFill>
                <a:latin typeface="Arial"/>
              </a:rPr>
              <a:t>210 passed, 3 offline route skips across 15 specialized test suites in 159s.</a:t>
            </a:r>
          </a:p>
          <a:p>
            <a:pPr>
              <a:lnSpc>
                <a:spcPct val="115000"/>
              </a:lnSpc>
              <a:spcAft>
                <a:spcPts val="800"/>
              </a:spcAft>
            </a:pPr>
            <a:r>
              <a:rPr sz="1300" b="1">
                <a:solidFill>
                  <a:srgbClr val="FFFFFF"/>
                </a:solidFill>
                <a:latin typeface="Arial"/>
              </a:rPr>
              <a:t>Security &amp; Hardening Tests (50 tests): </a:t>
            </a:r>
            <a:r>
              <a:rPr sz="1300">
                <a:solidFill>
                  <a:srgbClr val="94A3B8"/>
                </a:solidFill>
                <a:latin typeface="Arial"/>
              </a:rPr>
              <a:t>Validates Host-header injection rejection, 64KB message bounding, and timing-safe HMAC auth.</a:t>
            </a:r>
          </a:p>
          <a:p>
            <a:pPr>
              <a:lnSpc>
                <a:spcPct val="115000"/>
              </a:lnSpc>
              <a:spcAft>
                <a:spcPts val="800"/>
              </a:spcAft>
            </a:pPr>
            <a:r>
              <a:rPr sz="1300" b="1">
                <a:solidFill>
                  <a:srgbClr val="FFFFFF"/>
                </a:solidFill>
                <a:latin typeface="Arial"/>
              </a:rPr>
              <a:t>Reliability &amp; Buffer Bounds (22 tests): </a:t>
            </a:r>
            <a:r>
              <a:rPr sz="1300">
                <a:solidFill>
                  <a:srgbClr val="94A3B8"/>
                </a:solidFill>
                <a:latin typeface="Arial"/>
              </a:rPr>
              <a:t>Asserts ring buffer caps, storage recovery, and sub-millisecond event ingestion (&lt;0.8ms).</a:t>
            </a:r>
          </a:p>
          <a:p>
            <a:pPr>
              <a:lnSpc>
                <a:spcPct val="115000"/>
              </a:lnSpc>
              <a:spcAft>
                <a:spcPts val="800"/>
              </a:spcAft>
            </a:pPr>
            <a:r>
              <a:rPr sz="1300" b="1">
                <a:solidFill>
                  <a:srgbClr val="FFFFFF"/>
                </a:solidFill>
                <a:latin typeface="Arial"/>
              </a:rPr>
              <a:t>Packaging &amp; Hygiene (4 tests): </a:t>
            </a:r>
            <a:r>
              <a:rPr sz="1300">
                <a:solidFill>
                  <a:srgbClr val="94A3B8"/>
                </a:solidFill>
                <a:latin typeface="Arial"/>
              </a:rPr>
              <a:t>Validates clean extraction, zero source maps, and zero credentials in the distribution archive.</a:t>
            </a:r>
          </a:p>
        </p:txBody>
      </p:sp>
      <p:sp>
        <p:nvSpPr>
          <p:cNvPr id="9" name="Rounded Rectangle 8"/>
          <p:cNvSpPr/>
          <p:nvPr/>
        </p:nvSpPr>
        <p:spPr>
          <a:xfrm>
            <a:off x="630936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828800"/>
            <a:ext cx="4663440" cy="457200"/>
          </a:xfrm>
          <a:prstGeom prst="rect">
            <a:avLst/>
          </a:prstGeom>
          <a:noFill/>
        </p:spPr>
        <p:txBody>
          <a:bodyPr wrap="none">
            <a:spAutoFit/>
          </a:bodyPr>
          <a:lstStyle/>
          <a:p>
            <a:pPr>
              <a:defRPr sz="1400" b="1">
                <a:solidFill>
                  <a:srgbClr val="0EA5E9"/>
                </a:solidFill>
                <a:latin typeface="Arial"/>
              </a:defRPr>
            </a:pPr>
            <a:r>
              <a:t>CDP REAL-BROWSER ACCEPTANCE</a:t>
            </a:r>
          </a:p>
        </p:txBody>
      </p:sp>
      <p:sp>
        <p:nvSpPr>
          <p:cNvPr id="11" name="TextBox 10"/>
          <p:cNvSpPr txBox="1"/>
          <p:nvPr/>
        </p:nvSpPr>
        <p:spPr>
          <a:xfrm>
            <a:off x="658368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Automated Headless Chrome: </a:t>
            </a:r>
            <a:r>
              <a:rPr sz="1300">
                <a:solidFill>
                  <a:srgbClr val="94A3B8"/>
                </a:solidFill>
                <a:latin typeface="Arial"/>
              </a:rPr>
              <a:t>Executed automated integration via Chrome DevTools Protocol (test_clean_install_browser.mjs).</a:t>
            </a:r>
          </a:p>
          <a:p>
            <a:pPr>
              <a:lnSpc>
                <a:spcPct val="115000"/>
              </a:lnSpc>
              <a:spcAft>
                <a:spcPts val="800"/>
              </a:spcAft>
            </a:pPr>
            <a:r>
              <a:rPr sz="1300" b="1">
                <a:solidFill>
                  <a:srgbClr val="FFFFFF"/>
                </a:solidFill>
                <a:latin typeface="Arial"/>
              </a:rPr>
              <a:t>Clean Isolated Profile: </a:t>
            </a:r>
            <a:r>
              <a:rPr sz="1300">
                <a:solidFill>
                  <a:srgbClr val="94A3B8"/>
                </a:solidFill>
                <a:latin typeface="Arial"/>
              </a:rPr>
              <a:t>Tested loading extracted release package in a fresh temporary profile without development links.</a:t>
            </a:r>
          </a:p>
          <a:p>
            <a:pPr>
              <a:lnSpc>
                <a:spcPct val="115000"/>
              </a:lnSpc>
              <a:spcAft>
                <a:spcPts val="800"/>
              </a:spcAft>
            </a:pPr>
            <a:r>
              <a:rPr sz="1300" b="1">
                <a:solidFill>
                  <a:srgbClr val="FFFFFF"/>
                </a:solidFill>
                <a:latin typeface="Arial"/>
              </a:rPr>
              <a:t>Honest Offline Detection: </a:t>
            </a:r>
            <a:r>
              <a:rPr sz="1300">
                <a:solidFill>
                  <a:srgbClr val="94A3B8"/>
                </a:solidFill>
                <a:latin typeface="Arial"/>
              </a:rPr>
              <a:t>Confirmed that offline agent or Tor daemons are reported accurately without false success badges.</a:t>
            </a:r>
          </a:p>
          <a:p>
            <a:pPr>
              <a:lnSpc>
                <a:spcPct val="115000"/>
              </a:lnSpc>
              <a:spcAft>
                <a:spcPts val="800"/>
              </a:spcAft>
            </a:pPr>
            <a:r>
              <a:rPr sz="1300" b="1">
                <a:solidFill>
                  <a:srgbClr val="FFFFFF"/>
                </a:solidFill>
                <a:latin typeface="Arial"/>
              </a:rPr>
              <a:t>Zero Console Errors: </a:t>
            </a:r>
            <a:r>
              <a:rPr sz="1300">
                <a:solidFill>
                  <a:srgbClr val="94A3B8"/>
                </a:solidFill>
                <a:latin typeface="Arial"/>
              </a:rPr>
              <a:t>0 uncaught runtime exceptions or script errors across all lifecycle transitions.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12. EMPIRICAL VALIDATION</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Live Tor Circuit Routing Evidence</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728655"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271455" cy="457200"/>
          </a:xfrm>
          <a:prstGeom prst="rect">
            <a:avLst/>
          </a:prstGeom>
          <a:noFill/>
        </p:spPr>
        <p:txBody>
          <a:bodyPr wrap="none">
            <a:spAutoFit/>
          </a:bodyPr>
          <a:lstStyle/>
          <a:p>
            <a:pPr>
              <a:defRPr sz="1400" b="1">
                <a:solidFill>
                  <a:srgbClr val="0EA5E9"/>
                </a:solidFill>
                <a:latin typeface="Arial"/>
              </a:defRPr>
            </a:pPr>
            <a:r>
              <a:t>EMPIRICAL TOR EXIT NODE EVIDENCE</a:t>
            </a:r>
          </a:p>
        </p:txBody>
      </p:sp>
      <p:sp>
        <p:nvSpPr>
          <p:cNvPr id="8" name="TextBox 7"/>
          <p:cNvSpPr txBox="1"/>
          <p:nvPr/>
        </p:nvSpPr>
        <p:spPr>
          <a:xfrm>
            <a:off x="1097280" y="2194560"/>
            <a:ext cx="10058400" cy="3840480"/>
          </a:xfrm>
          <a:prstGeom prst="rect">
            <a:avLst/>
          </a:prstGeom>
          <a:noFill/>
        </p:spPr>
        <p:txBody>
          <a:bodyPr wrap="square">
            <a:spAutoFit/>
          </a:bodyPr>
          <a:lstStyle/>
          <a:p>
            <a:pPr>
              <a:lnSpc>
                <a:spcPct val="115000"/>
              </a:lnSpc>
              <a:spcAft>
                <a:spcPts val="800"/>
              </a:spcAft>
            </a:pPr>
            <a:r>
              <a:rPr sz="1300" b="1">
                <a:solidFill>
                  <a:srgbClr val="FFFFFF"/>
                </a:solidFill>
                <a:latin typeface="Arial"/>
              </a:rPr>
              <a:t>Tor Daemon Version Verified: </a:t>
            </a:r>
            <a:r>
              <a:rPr sz="1300">
                <a:solidFill>
                  <a:srgbClr val="94A3B8"/>
                </a:solidFill>
                <a:latin typeface="Arial"/>
              </a:rPr>
              <a:t>Tor version 0.4.8.14 (git-5d040a975df7a060) running natively on Windows x64.</a:t>
            </a:r>
          </a:p>
          <a:p>
            <a:pPr>
              <a:lnSpc>
                <a:spcPct val="115000"/>
              </a:lnSpc>
              <a:spcAft>
                <a:spcPts val="800"/>
              </a:spcAft>
            </a:pPr>
            <a:r>
              <a:rPr sz="1300" b="1">
                <a:solidFill>
                  <a:srgbClr val="FFFFFF"/>
                </a:solidFill>
                <a:latin typeface="Arial"/>
              </a:rPr>
              <a:t>Local SOCKS5 &amp; ControlPort: </a:t>
            </a:r>
            <a:r>
              <a:rPr sz="1300">
                <a:solidFill>
                  <a:srgbClr val="94A3B8"/>
                </a:solidFill>
                <a:latin typeface="Arial"/>
              </a:rPr>
              <a:t>Verified active on 127.0.0.1:9050 (RFC 1928 greeting 0x05 0x00) and 127.0.0.1:9051 (Bootstrap: 100%).</a:t>
            </a:r>
          </a:p>
          <a:p>
            <a:pPr>
              <a:lnSpc>
                <a:spcPct val="115000"/>
              </a:lnSpc>
              <a:spcAft>
                <a:spcPts val="800"/>
              </a:spcAft>
            </a:pPr>
            <a:r>
              <a:rPr sz="1300" b="1">
                <a:solidFill>
                  <a:srgbClr val="FFFFFF"/>
                </a:solidFill>
                <a:latin typeface="Arial"/>
              </a:rPr>
              <a:t>Direct Baseline Public IP: </a:t>
            </a:r>
            <a:r>
              <a:rPr sz="1300">
                <a:solidFill>
                  <a:srgbClr val="94A3B8"/>
                </a:solidFill>
                <a:latin typeface="Arial"/>
              </a:rPr>
              <a:t>210.16.95.248 (measured via direct query to api.ipify.org before session).</a:t>
            </a:r>
          </a:p>
          <a:p>
            <a:pPr>
              <a:lnSpc>
                <a:spcPct val="115000"/>
              </a:lnSpc>
              <a:spcAft>
                <a:spcPts val="800"/>
              </a:spcAft>
            </a:pPr>
            <a:r>
              <a:rPr sz="1300" b="1">
                <a:solidFill>
                  <a:srgbClr val="FFFFFF"/>
                </a:solidFill>
                <a:latin typeface="Arial"/>
              </a:rPr>
              <a:t>Observed Tor Egress Public IP: </a:t>
            </a:r>
            <a:r>
              <a:rPr sz="1300">
                <a:solidFill>
                  <a:srgbClr val="94A3B8"/>
                </a:solidFill>
                <a:latin typeface="Arial"/>
              </a:rPr>
              <a:t>193.189.100.203 (measured during active protected session).</a:t>
            </a:r>
          </a:p>
          <a:p>
            <a:pPr>
              <a:lnSpc>
                <a:spcPct val="115000"/>
              </a:lnSpc>
              <a:spcAft>
                <a:spcPts val="800"/>
              </a:spcAft>
            </a:pPr>
            <a:r>
              <a:rPr sz="1300" b="1">
                <a:solidFill>
                  <a:srgbClr val="FFFFFF"/>
                </a:solidFill>
                <a:latin typeface="Arial"/>
              </a:rPr>
              <a:t>External Authority Confirmation: </a:t>
            </a:r>
            <a:r>
              <a:rPr sz="1300">
                <a:solidFill>
                  <a:srgbClr val="94A3B8"/>
                </a:solidFill>
                <a:latin typeface="Arial"/>
              </a:rPr>
              <a:t>check.torproject.org confirmed: {"IsTor": true, "IP": "193.189.100.203"}.</a:t>
            </a:r>
          </a:p>
          <a:p>
            <a:pPr>
              <a:lnSpc>
                <a:spcPct val="115000"/>
              </a:lnSpc>
              <a:spcAft>
                <a:spcPts val="800"/>
              </a:spcAft>
            </a:pPr>
            <a:r>
              <a:rPr sz="1300" b="1">
                <a:solidFill>
                  <a:srgbClr val="FFFFFF"/>
                </a:solidFill>
                <a:latin typeface="Arial"/>
              </a:rPr>
              <a:t>Evidence Level &amp; Route Status: </a:t>
            </a:r>
            <a:r>
              <a:rPr sz="1300">
                <a:solidFill>
                  <a:srgbClr val="94A3B8"/>
                </a:solidFill>
                <a:latin typeface="Arial"/>
              </a:rPr>
              <a:t>TOR_ROUTE_VERIFIED (Evidence Level: HIGH). Direct and Tor IPs strictly separated.</a:t>
            </a:r>
          </a:p>
          <a:p>
            <a:pPr>
              <a:lnSpc>
                <a:spcPct val="115000"/>
              </a:lnSpc>
              <a:spcAft>
                <a:spcPts val="800"/>
              </a:spcAft>
            </a:pPr>
            <a:r>
              <a:rPr sz="1300" b="1">
                <a:solidFill>
                  <a:srgbClr val="FFFFFF"/>
                </a:solidFill>
                <a:latin typeface="Arial"/>
              </a:rPr>
              <a:t>Live Kill-Switch Validation: </a:t>
            </a:r>
            <a:r>
              <a:rPr sz="1300">
                <a:solidFill>
                  <a:srgbClr val="94A3B8"/>
                </a:solidFill>
                <a:latin typeface="Arial"/>
              </a:rPr>
              <a:t>Simulated daemon termination caused instant proxy shift to discard port 9; direct bypass completely blocked.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13. TECHNICAL BOUNDARIES</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Accepted Limitations and Future Enhancements</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663440" cy="457200"/>
          </a:xfrm>
          <a:prstGeom prst="rect">
            <a:avLst/>
          </a:prstGeom>
          <a:noFill/>
        </p:spPr>
        <p:txBody>
          <a:bodyPr wrap="none">
            <a:spAutoFit/>
          </a:bodyPr>
          <a:lstStyle/>
          <a:p>
            <a:pPr>
              <a:defRPr sz="1400" b="1">
                <a:solidFill>
                  <a:srgbClr val="0EA5E9"/>
                </a:solidFill>
                <a:latin typeface="Arial"/>
              </a:defRPr>
            </a:pPr>
            <a:r>
              <a:t>ACCEPTED TECHNICAL LIMITATIONS</a:t>
            </a:r>
          </a:p>
        </p:txBody>
      </p:sp>
      <p:sp>
        <p:nvSpPr>
          <p:cNvPr id="8" name="TextBox 7"/>
          <p:cNvSpPr txBox="1"/>
          <p:nvPr/>
        </p:nvSpPr>
        <p:spPr>
          <a:xfrm>
            <a:off x="100584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Kernel-Level UDP / Raw DNS: </a:t>
            </a:r>
            <a:r>
              <a:rPr sz="1300">
                <a:solidFill>
                  <a:srgbClr val="94A3B8"/>
                </a:solidFill>
                <a:latin typeface="Arial"/>
              </a:rPr>
              <a:t>Manifest V3 extensions cannot intercept raw kernel UDP sockets; remote DNS is enforced over SOCKS5, but OS-level non-browser DNS is outside scope.</a:t>
            </a:r>
          </a:p>
          <a:p>
            <a:pPr>
              <a:lnSpc>
                <a:spcPct val="115000"/>
              </a:lnSpc>
              <a:spcAft>
                <a:spcPts val="800"/>
              </a:spcAft>
            </a:pPr>
            <a:r>
              <a:rPr sz="1300" b="1">
                <a:solidFill>
                  <a:srgbClr val="FFFFFF"/>
                </a:solidFill>
                <a:latin typeface="Arial"/>
              </a:rPr>
              <a:t>No Per-Tab Cookie Containers: </a:t>
            </a:r>
            <a:r>
              <a:rPr sz="1300">
                <a:solidFill>
                  <a:srgbClr val="94A3B8"/>
                </a:solidFill>
                <a:latin typeface="Arial"/>
              </a:rPr>
              <a:t>Chromium lacks native per-tab cookie isolation APIs; isolation is achieved via session UUID boundaries and post-session cleanup.</a:t>
            </a:r>
          </a:p>
          <a:p>
            <a:pPr>
              <a:lnSpc>
                <a:spcPct val="115000"/>
              </a:lnSpc>
              <a:spcAft>
                <a:spcPts val="800"/>
              </a:spcAft>
            </a:pPr>
            <a:r>
              <a:rPr sz="1300" b="1">
                <a:solidFill>
                  <a:srgbClr val="FFFFFF"/>
                </a:solidFill>
                <a:latin typeface="Arial"/>
              </a:rPr>
              <a:t>Local Daemon Dependency: </a:t>
            </a:r>
            <a:r>
              <a:rPr sz="1300">
                <a:solidFill>
                  <a:srgbClr val="94A3B8"/>
                </a:solidFill>
                <a:latin typeface="Arial"/>
              </a:rPr>
              <a:t>Requires the local Python agent and Tor daemon to be running on loopback to provide verified circuit routing.</a:t>
            </a:r>
          </a:p>
        </p:txBody>
      </p:sp>
      <p:sp>
        <p:nvSpPr>
          <p:cNvPr id="9" name="Rounded Rectangle 8"/>
          <p:cNvSpPr/>
          <p:nvPr/>
        </p:nvSpPr>
        <p:spPr>
          <a:xfrm>
            <a:off x="630936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828800"/>
            <a:ext cx="4663440" cy="457200"/>
          </a:xfrm>
          <a:prstGeom prst="rect">
            <a:avLst/>
          </a:prstGeom>
          <a:noFill/>
        </p:spPr>
        <p:txBody>
          <a:bodyPr wrap="none">
            <a:spAutoFit/>
          </a:bodyPr>
          <a:lstStyle/>
          <a:p>
            <a:pPr>
              <a:defRPr sz="1400" b="1">
                <a:solidFill>
                  <a:srgbClr val="0EA5E9"/>
                </a:solidFill>
                <a:latin typeface="Arial"/>
              </a:defRPr>
            </a:pPr>
            <a:r>
              <a:t>FUTURE RESEARCH TRAJECTORIES</a:t>
            </a:r>
          </a:p>
        </p:txBody>
      </p:sp>
      <p:sp>
        <p:nvSpPr>
          <p:cNvPr id="11" name="TextBox 10"/>
          <p:cNvSpPr txBox="1"/>
          <p:nvPr/>
        </p:nvSpPr>
        <p:spPr>
          <a:xfrm>
            <a:off x="658368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Unified Native Desktop Wrapper: </a:t>
            </a:r>
            <a:r>
              <a:rPr sz="1300">
                <a:solidFill>
                  <a:srgbClr val="94A3B8"/>
                </a:solidFill>
                <a:latin typeface="Arial"/>
              </a:rPr>
              <a:t>Package the Python daemon, Tor binary, and browser launcher into a single desktop installer using Tauri or Electron.</a:t>
            </a:r>
          </a:p>
          <a:p>
            <a:pPr>
              <a:lnSpc>
                <a:spcPct val="115000"/>
              </a:lnSpc>
              <a:spcAft>
                <a:spcPts val="800"/>
              </a:spcAft>
            </a:pPr>
            <a:r>
              <a:rPr sz="1300" b="1">
                <a:solidFill>
                  <a:srgbClr val="FFFFFF"/>
                </a:solidFill>
                <a:latin typeface="Arial"/>
              </a:rPr>
              <a:t>Cascaded Multi-Hop Circuits: </a:t>
            </a:r>
            <a:r>
              <a:rPr sz="1300">
                <a:solidFill>
                  <a:srgbClr val="94A3B8"/>
                </a:solidFill>
                <a:latin typeface="Arial"/>
              </a:rPr>
              <a:t>Enable chaining custom personal proxy servers before the Tor guard relay for advanced threat models.</a:t>
            </a:r>
          </a:p>
          <a:p>
            <a:pPr>
              <a:lnSpc>
                <a:spcPct val="115000"/>
              </a:lnSpc>
              <a:spcAft>
                <a:spcPts val="800"/>
              </a:spcAft>
            </a:pPr>
            <a:r>
              <a:rPr sz="1300" b="1">
                <a:solidFill>
                  <a:srgbClr val="FFFFFF"/>
                </a:solidFill>
                <a:latin typeface="Arial"/>
              </a:rPr>
              <a:t>Cross-Browser WebExtension Porting: </a:t>
            </a:r>
            <a:r>
              <a:rPr sz="1300">
                <a:solidFill>
                  <a:srgbClr val="94A3B8"/>
                </a:solidFill>
                <a:latin typeface="Arial"/>
              </a:rPr>
              <a:t>Extend background service worker logic to Mozilla Firefox and Safari.</a:t>
            </a:r>
          </a:p>
          <a:p>
            <a:pPr>
              <a:lnSpc>
                <a:spcPct val="115000"/>
              </a:lnSpc>
              <a:spcAft>
                <a:spcPts val="800"/>
              </a:spcAft>
            </a:pPr>
            <a:r>
              <a:rPr sz="1300" b="1">
                <a:solidFill>
                  <a:srgbClr val="FFFFFF"/>
                </a:solidFill>
                <a:latin typeface="Arial"/>
              </a:rPr>
              <a:t>Scheduled Identity Rotation: </a:t>
            </a:r>
            <a:r>
              <a:rPr sz="1300">
                <a:solidFill>
                  <a:srgbClr val="94A3B8"/>
                </a:solidFill>
                <a:latin typeface="Arial"/>
              </a:rPr>
              <a:t>Automate periodic NEWNYM signal dispatches to the Tor ControlPort for automated IP rotation.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2743200"/>
          </a:xfrm>
          <a:prstGeom prst="rect">
            <a:avLst/>
          </a:prstGeom>
          <a:noFill/>
        </p:spPr>
        <p:txBody>
          <a:bodyPr wrap="square">
            <a:spAutoFit/>
          </a:bodyPr>
          <a:lstStyle/>
          <a:p>
            <a:pPr>
              <a:defRPr sz="3600" b="1">
                <a:solidFill>
                  <a:srgbClr val="FFFFFF"/>
                </a:solidFill>
                <a:latin typeface="Arial"/>
              </a:defRPr>
            </a:pPr>
            <a:r>
              <a:t>CONCLUSION &amp; SUMMARY</a:t>
            </a:r>
          </a:p>
          <a:p>
            <a:pPr>
              <a:spcBef>
                <a:spcPts val="1400"/>
              </a:spcBef>
              <a:defRPr sz="1600">
                <a:solidFill>
                  <a:srgbClr val="94A3B8"/>
                </a:solidFill>
                <a:latin typeface="Arial"/>
              </a:defRPr>
            </a:pPr>
            <a:r>
              <a:t>ShadowBrowse successfully bridges the gap between decentralized onion routing and the modern Chromium ecosystem. By decoupling privileged route verification from client-side DOM defenses, it delivers verified anonymity, active fingerprinting mitigation, and fail-closed reliability within Manifest V3.</a:t>
            </a:r>
          </a:p>
        </p:txBody>
      </p:sp>
      <p:sp>
        <p:nvSpPr>
          <p:cNvPr id="4" name="Rounded Rectangle 3"/>
          <p:cNvSpPr/>
          <p:nvPr/>
        </p:nvSpPr>
        <p:spPr>
          <a:xfrm>
            <a:off x="914400" y="4572000"/>
            <a:ext cx="10362895" cy="164592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4754880"/>
            <a:ext cx="9966960" cy="1280160"/>
          </a:xfrm>
          <a:prstGeom prst="rect">
            <a:avLst/>
          </a:prstGeom>
          <a:noFill/>
        </p:spPr>
        <p:txBody>
          <a:bodyPr wrap="square">
            <a:spAutoFit/>
          </a:bodyPr>
          <a:lstStyle/>
          <a:p>
            <a:pPr>
              <a:defRPr sz="2000" b="1">
                <a:solidFill>
                  <a:srgbClr val="FFFFFF"/>
                </a:solidFill>
                <a:latin typeface="Arial"/>
              </a:defRPr>
            </a:pPr>
            <a:r>
              <a:t>Thank you for your time and consideration.</a:t>
            </a:r>
          </a:p>
          <a:p>
            <a:pPr>
              <a:defRPr sz="1400">
                <a:solidFill>
                  <a:srgbClr val="0EA5E9"/>
                </a:solidFill>
                <a:latin typeface="Arial"/>
              </a:defRPr>
            </a:pPr>
            <a:r>
              <a:t>Questions, Feedback, and Viva Discussion are Welcomed.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